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4"/>
  </p:sldMasterIdLst>
  <p:notesMasterIdLst>
    <p:notesMasterId r:id="rId17"/>
  </p:notesMasterIdLst>
  <p:handoutMasterIdLst>
    <p:handoutMasterId r:id="rId18"/>
  </p:handoutMasterIdLst>
  <p:sldIdLst>
    <p:sldId id="256" r:id="rId5"/>
    <p:sldId id="257" r:id="rId6"/>
    <p:sldId id="258" r:id="rId7"/>
    <p:sldId id="259" r:id="rId8"/>
    <p:sldId id="260" r:id="rId9"/>
    <p:sldId id="264" r:id="rId10"/>
    <p:sldId id="262" r:id="rId11"/>
    <p:sldId id="263" r:id="rId12"/>
    <p:sldId id="265" r:id="rId13"/>
    <p:sldId id="266" r:id="rId14"/>
    <p:sldId id="267" r:id="rId15"/>
    <p:sldId id="268" r:id="rId16"/>
  </p:sldIdLst>
  <p:sldSz cx="13817600" cy="77724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D0DEE1"/>
    <a:srgbClr val="EDAED4"/>
    <a:srgbClr val="F30E5C"/>
    <a:srgbClr val="3A27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F41C4D-EA2C-9F4A-ACCC-3C56D4EAAE70}" v="29" dt="2025-09-03T11:01:49.5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83236"/>
  </p:normalViewPr>
  <p:slideViewPr>
    <p:cSldViewPr snapToGrid="0">
      <p:cViewPr varScale="1">
        <p:scale>
          <a:sx n="86" d="100"/>
          <a:sy n="86" d="100"/>
        </p:scale>
        <p:origin x="12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40E16BF-FC11-5C4C-B6E8-B149DD7653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36B0671-A2D4-2F43-9AE1-010415B94F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A10675-EB32-8243-A8A2-13523113CDBB}" type="datetimeFigureOut">
              <a:rPr lang="es-ES_tradnl" smtClean="0"/>
              <a:t>1/3/26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8767C2-F0ED-F34A-B5DE-F8FCAA00E02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05D0DAB-2801-1C4A-831B-6DD67D8DD5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1DC032-80BB-074C-BBC7-9F71856CA8E3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38984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0721F-E703-6E45-8B16-A38962066249}" type="datetimeFigureOut">
              <a:rPr lang="es-ES_tradnl" smtClean="0"/>
              <a:t>1/3/26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0CD98-9B11-7740-959F-FF52FFBFF034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80956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Hoy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vamos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hablar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Delta Lake y Apache Iceberg, dos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tecnologías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están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cambiando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cómo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almacenamos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gestionamos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Data Lakehouse. Vamos a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qué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problemas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resuelven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qué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diferencian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formatos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tradicionales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</a:t>
            </a:r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Parquet o Avro.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0CD98-9B11-7740-959F-FF52FFBFF034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069865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0CD98-9B11-7740-959F-FF52FFBFF034}" type="slidenum">
              <a:rPr lang="es-ES_tradnl" smtClean="0"/>
              <a:t>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26480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Spark Core: Es la API 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Interfaz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aplicación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para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procesamiento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batch. Esta API es la base para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construcción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 APIs y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contiene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base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gestiones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recursos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clústeres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interacción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Spark SQL: es la API de Spark que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trabajar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estructurados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semiestructurados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Además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realizar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consultas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</a:t>
            </a: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sobre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Spark Streaming: 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procesamiento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streaming,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utiliza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microbatches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milisegundos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Spark Structured Streaming: es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evolución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motor de Spark SQL para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funcionar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streaming y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trabajar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sobre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flujos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tiempo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real,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manera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consigue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exactly-one-semantics y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latencia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inferiores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milisegundos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Spark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MLlib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es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framework que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facilita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algoritmos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machine learning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sobre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Spark. Por medio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podrás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realizar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clasificaciones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regresiones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clustering, etc.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• Spark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GraphX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proporciona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procesamiento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grafos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distribuidos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dentro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la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arquitectura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Apache Spark</a:t>
            </a:r>
          </a:p>
          <a:p>
            <a:endParaRPr lang="en-C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10CD98-9B11-7740-959F-FF52FFBFF034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78857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43B97E-5761-4142-B169-E70AF0EBA0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6439" y="4396197"/>
            <a:ext cx="7075093" cy="972784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5A2CB70-15A2-4064-91C9-C0316B6EA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6439" y="5416351"/>
            <a:ext cx="7075093" cy="413808"/>
          </a:xfrm>
        </p:spPr>
        <p:txBody>
          <a:bodyPr>
            <a:normAutofit/>
          </a:bodyPr>
          <a:lstStyle>
            <a:lvl1pPr marL="0" indent="0" algn="r">
              <a:buNone/>
              <a:defRPr sz="2040">
                <a:latin typeface="Avenir Next" panose="020B050302020202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B71207-351C-4A38-AA86-D2FCD3A7E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‹#›</a:t>
            </a:fld>
            <a:endParaRPr lang="es-CO"/>
          </a:p>
        </p:txBody>
      </p:sp>
      <p:sp>
        <p:nvSpPr>
          <p:cNvPr id="7" name="Rectángulo">
            <a:extLst>
              <a:ext uri="{FF2B5EF4-FFF2-40B4-BE49-F238E27FC236}">
                <a16:creationId xmlns:a16="http://schemas.microsoft.com/office/drawing/2014/main" id="{F38B2254-1432-4197-8EC5-C21250AEFF61}"/>
              </a:ext>
            </a:extLst>
          </p:cNvPr>
          <p:cNvSpPr/>
          <p:nvPr/>
        </p:nvSpPr>
        <p:spPr>
          <a:xfrm>
            <a:off x="1727199" y="4219302"/>
            <a:ext cx="8091054" cy="99881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7573" tIns="57573" rIns="57573" bIns="57573" anchor="ctr"/>
          <a:lstStyle/>
          <a:p>
            <a:pPr defTabSz="935539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627"/>
          </a:p>
        </p:txBody>
      </p:sp>
      <p:pic>
        <p:nvPicPr>
          <p:cNvPr id="8" name="creditos youtube UPB_2.jpg" descr="creditos youtube UPB_2.jpg">
            <a:extLst>
              <a:ext uri="{FF2B5EF4-FFF2-40B4-BE49-F238E27FC236}">
                <a16:creationId xmlns:a16="http://schemas.microsoft.com/office/drawing/2014/main" id="{96568E59-DCD5-4522-8BD2-325F20FC14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991" t="988" r="326" b="85983"/>
          <a:stretch>
            <a:fillRect/>
          </a:stretch>
        </p:blipFill>
        <p:spPr>
          <a:xfrm>
            <a:off x="10084380" y="4129941"/>
            <a:ext cx="3108959" cy="1156925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AD87BAA-A944-4E1C-8348-D14E0CD554C2}"/>
              </a:ext>
            </a:extLst>
          </p:cNvPr>
          <p:cNvCxnSpPr>
            <a:cxnSpLocks/>
          </p:cNvCxnSpPr>
          <p:nvPr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ubtítulo 2">
            <a:extLst>
              <a:ext uri="{FF2B5EF4-FFF2-40B4-BE49-F238E27FC236}">
                <a16:creationId xmlns:a16="http://schemas.microsoft.com/office/drawing/2014/main" id="{674EF986-C5DB-46BE-9451-7777A4D6E298}"/>
              </a:ext>
            </a:extLst>
          </p:cNvPr>
          <p:cNvSpPr txBox="1">
            <a:spLocks/>
          </p:cNvSpPr>
          <p:nvPr userDrawn="1"/>
        </p:nvSpPr>
        <p:spPr>
          <a:xfrm>
            <a:off x="355871" y="7182948"/>
            <a:ext cx="2166098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latin typeface="Avenir Next Medium" panose="020B0603020202020204" pitchFamily="34" charset="0"/>
              </a:rPr>
              <a:t>Sin Límites</a:t>
            </a:r>
            <a:endParaRPr lang="es-CO" b="1" i="0">
              <a:latin typeface="Avenir Next Medium" panose="020B0603020202020204" pitchFamily="34" charset="0"/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D6AADF75-181F-40DB-928C-4A138E628F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48400" y="7140250"/>
            <a:ext cx="1397480" cy="501858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B7697F83-C8B7-4346-85E8-A196647D4D8A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1039995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75000"/>
                  </a:schemeClr>
                </a:solidFill>
              </a:rPr>
              <a:t>Vigilada </a:t>
            </a:r>
            <a:r>
              <a:rPr lang="es-ES" sz="1200" err="1">
                <a:solidFill>
                  <a:schemeClr val="bg1">
                    <a:lumMod val="75000"/>
                  </a:schemeClr>
                </a:solidFill>
              </a:rPr>
              <a:t>Mineducación</a:t>
            </a:r>
            <a:endParaRPr lang="es-CO" sz="12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263823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creditos youtube UPB_3.jpg" descr="creditos youtube UPB_3.jpg">
            <a:extLst>
              <a:ext uri="{FF2B5EF4-FFF2-40B4-BE49-F238E27FC236}">
                <a16:creationId xmlns:a16="http://schemas.microsoft.com/office/drawing/2014/main" id="{1C629E42-DD4A-4D1C-AC12-4C81C75961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907" b="80218"/>
          <a:stretch>
            <a:fillRect/>
          </a:stretch>
        </p:blipFill>
        <p:spPr>
          <a:xfrm>
            <a:off x="10084380" y="4056087"/>
            <a:ext cx="3108959" cy="1230778"/>
          </a:xfrm>
          <a:prstGeom prst="rect">
            <a:avLst/>
          </a:prstGeom>
          <a:ln w="12700">
            <a:miter lim="400000"/>
          </a:ln>
        </p:spPr>
      </p:pic>
      <p:sp>
        <p:nvSpPr>
          <p:cNvPr id="24" name="Título 1">
            <a:extLst>
              <a:ext uri="{FF2B5EF4-FFF2-40B4-BE49-F238E27FC236}">
                <a16:creationId xmlns:a16="http://schemas.microsoft.com/office/drawing/2014/main" id="{508C51D1-E784-49FC-A10E-45DCF5412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6439" y="4396197"/>
            <a:ext cx="7075093" cy="972784"/>
          </a:xfrm>
        </p:spPr>
        <p:txBody>
          <a:bodyPr anchor="b">
            <a:noAutofit/>
          </a:bodyPr>
          <a:lstStyle>
            <a:lvl1pPr algn="r">
              <a:lnSpc>
                <a:spcPct val="80000"/>
              </a:lnSpc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AB671F00-FA4D-44B1-BDD4-E428ECB99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6439" y="5416351"/>
            <a:ext cx="7075093" cy="413808"/>
          </a:xfrm>
        </p:spPr>
        <p:txBody>
          <a:bodyPr>
            <a:normAutofit/>
          </a:bodyPr>
          <a:lstStyle>
            <a:lvl1pPr marL="0" indent="0" algn="r">
              <a:buNone/>
              <a:defRPr sz="2040">
                <a:latin typeface="Avenir Next" panose="020B0503020202020204" pitchFamily="34" charset="0"/>
              </a:defRPr>
            </a:lvl1pPr>
            <a:lvl2pPr marL="518145" indent="0" algn="ctr">
              <a:buNone/>
              <a:defRPr sz="2267"/>
            </a:lvl2pPr>
            <a:lvl3pPr marL="1036290" indent="0" algn="ctr">
              <a:buNone/>
              <a:defRPr sz="2040"/>
            </a:lvl3pPr>
            <a:lvl4pPr marL="1554434" indent="0" algn="ctr">
              <a:buNone/>
              <a:defRPr sz="1813"/>
            </a:lvl4pPr>
            <a:lvl5pPr marL="2072579" indent="0" algn="ctr">
              <a:buNone/>
              <a:defRPr sz="1813"/>
            </a:lvl5pPr>
            <a:lvl6pPr marL="2590724" indent="0" algn="ctr">
              <a:buNone/>
              <a:defRPr sz="1813"/>
            </a:lvl6pPr>
            <a:lvl7pPr marL="3108869" indent="0" algn="ctr">
              <a:buNone/>
              <a:defRPr sz="1813"/>
            </a:lvl7pPr>
            <a:lvl8pPr marL="3627013" indent="0" algn="ctr">
              <a:buNone/>
              <a:defRPr sz="1813"/>
            </a:lvl8pPr>
            <a:lvl9pPr marL="4145158" indent="0" algn="ctr">
              <a:buNone/>
              <a:defRPr sz="1813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26" name="Marcador de número de diapositiva 5">
            <a:extLst>
              <a:ext uri="{FF2B5EF4-FFF2-40B4-BE49-F238E27FC236}">
                <a16:creationId xmlns:a16="http://schemas.microsoft.com/office/drawing/2014/main" id="{6F64F3CE-91B5-420A-9326-140142E4D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‹#›</a:t>
            </a:fld>
            <a:endParaRPr lang="es-CO"/>
          </a:p>
        </p:txBody>
      </p:sp>
      <p:sp>
        <p:nvSpPr>
          <p:cNvPr id="27" name="Rectángulo">
            <a:extLst>
              <a:ext uri="{FF2B5EF4-FFF2-40B4-BE49-F238E27FC236}">
                <a16:creationId xmlns:a16="http://schemas.microsoft.com/office/drawing/2014/main" id="{E9C19E82-311E-4507-BFDD-6F54D9CABE2E}"/>
              </a:ext>
            </a:extLst>
          </p:cNvPr>
          <p:cNvSpPr/>
          <p:nvPr userDrawn="1"/>
        </p:nvSpPr>
        <p:spPr>
          <a:xfrm>
            <a:off x="1727199" y="4219302"/>
            <a:ext cx="8091054" cy="99881"/>
          </a:xfrm>
          <a:prstGeom prst="rect">
            <a:avLst/>
          </a:prstGeom>
          <a:gradFill>
            <a:gsLst>
              <a:gs pos="0">
                <a:srgbClr val="E1325A">
                  <a:alpha val="80000"/>
                </a:srgbClr>
              </a:gs>
              <a:gs pos="100000">
                <a:srgbClr val="A242EE">
                  <a:alpha val="80000"/>
                </a:srgbClr>
              </a:gs>
            </a:gsLst>
          </a:gradFill>
          <a:ln w="12700">
            <a:miter lim="400000"/>
          </a:ln>
        </p:spPr>
        <p:txBody>
          <a:bodyPr lIns="57573" tIns="57573" rIns="57573" bIns="57573" anchor="ctr"/>
          <a:lstStyle/>
          <a:p>
            <a:pPr defTabSz="935539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3627"/>
          </a:p>
        </p:txBody>
      </p: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A55A36E7-AC6E-417E-BCD1-BFF32FA9FBCD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Subtítulo 2">
            <a:extLst>
              <a:ext uri="{FF2B5EF4-FFF2-40B4-BE49-F238E27FC236}">
                <a16:creationId xmlns:a16="http://schemas.microsoft.com/office/drawing/2014/main" id="{C26EF628-0023-4AA2-985A-DB10AC2D4208}"/>
              </a:ext>
            </a:extLst>
          </p:cNvPr>
          <p:cNvSpPr txBox="1">
            <a:spLocks/>
          </p:cNvSpPr>
          <p:nvPr userDrawn="1"/>
        </p:nvSpPr>
        <p:spPr>
          <a:xfrm>
            <a:off x="355871" y="7182948"/>
            <a:ext cx="2166098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latin typeface="Avenir Next Medium" panose="020B0603020202020204" pitchFamily="34" charset="0"/>
              </a:rPr>
              <a:t>Sin Límites</a:t>
            </a:r>
            <a:endParaRPr lang="es-CO" b="1" i="0">
              <a:latin typeface="Avenir Next Medium" panose="020B0603020202020204" pitchFamily="34" charset="0"/>
            </a:endParaRPr>
          </a:p>
        </p:txBody>
      </p:sp>
      <p:pic>
        <p:nvPicPr>
          <p:cNvPr id="3" name="Gráfico 2">
            <a:extLst>
              <a:ext uri="{FF2B5EF4-FFF2-40B4-BE49-F238E27FC236}">
                <a16:creationId xmlns:a16="http://schemas.microsoft.com/office/drawing/2014/main" id="{DF640C75-A05B-431E-BD3E-4FC7DC4A92A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89686" y="7144087"/>
            <a:ext cx="1336796" cy="480065"/>
          </a:xfrm>
          <a:prstGeom prst="rect">
            <a:avLst/>
          </a:prstGeom>
        </p:spPr>
      </p:pic>
      <p:sp>
        <p:nvSpPr>
          <p:cNvPr id="11" name="Subtítulo 2">
            <a:extLst>
              <a:ext uri="{FF2B5EF4-FFF2-40B4-BE49-F238E27FC236}">
                <a16:creationId xmlns:a16="http://schemas.microsoft.com/office/drawing/2014/main" id="{F5543B75-DDC9-454D-AB72-07F1FC6B7D4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1039995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50000"/>
                    <a:lumOff val="50000"/>
                  </a:schemeClr>
                </a:solidFill>
              </a:rPr>
              <a:t>Vigilada </a:t>
            </a:r>
            <a:r>
              <a:rPr lang="es-ES" sz="1200" err="1">
                <a:solidFill>
                  <a:schemeClr val="bg1">
                    <a:lumMod val="50000"/>
                    <a:lumOff val="50000"/>
                  </a:schemeClr>
                </a:solidFill>
              </a:rPr>
              <a:t>Mineducación</a:t>
            </a:r>
            <a:endParaRPr lang="es-CO" sz="120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7706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21" y="1450848"/>
            <a:ext cx="13057536" cy="5344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pic>
        <p:nvPicPr>
          <p:cNvPr id="12" name="creditos youtube UPB_2.jpg" descr="creditos youtube UPB_2.jpg">
            <a:extLst>
              <a:ext uri="{FF2B5EF4-FFF2-40B4-BE49-F238E27FC236}">
                <a16:creationId xmlns:a16="http://schemas.microsoft.com/office/drawing/2014/main" id="{A8FC3443-A568-4A31-B30F-DFAE03EFBB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991" t="988" r="326" b="85983"/>
          <a:stretch>
            <a:fillRect/>
          </a:stretch>
        </p:blipFill>
        <p:spPr>
          <a:xfrm>
            <a:off x="11237315" y="260880"/>
            <a:ext cx="2345450" cy="872804"/>
          </a:xfrm>
          <a:prstGeom prst="rect">
            <a:avLst/>
          </a:prstGeom>
          <a:ln w="12700">
            <a:miter lim="400000"/>
          </a:ln>
        </p:spPr>
      </p:pic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11046889" y="338244"/>
            <a:ext cx="0" cy="70908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ítulo 1">
            <a:extLst>
              <a:ext uri="{FF2B5EF4-FFF2-40B4-BE49-F238E27FC236}">
                <a16:creationId xmlns:a16="http://schemas.microsoft.com/office/drawing/2014/main" id="{114232E0-A0B8-414F-BFBD-6335781D55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643" y="265821"/>
            <a:ext cx="8398892" cy="972784"/>
          </a:xfrm>
        </p:spPr>
        <p:txBody>
          <a:bodyPr anchor="b">
            <a:noAutofit/>
          </a:bodyPr>
          <a:lstStyle>
            <a:lvl1pPr algn="l">
              <a:defRPr sz="3600">
                <a:latin typeface="Vice City Sans" panose="020000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F3E9FCD0-3A2B-4931-A57C-8450B37EB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‹#›</a:t>
            </a:fld>
            <a:endParaRPr lang="es-CO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89B81A4-05C9-46D7-8812-6C902272D490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ubtítulo 2">
            <a:extLst>
              <a:ext uri="{FF2B5EF4-FFF2-40B4-BE49-F238E27FC236}">
                <a16:creationId xmlns:a16="http://schemas.microsoft.com/office/drawing/2014/main" id="{E721D339-CF4F-436F-9D76-7EC9C5A76DFC}"/>
              </a:ext>
            </a:extLst>
          </p:cNvPr>
          <p:cNvSpPr txBox="1">
            <a:spLocks/>
          </p:cNvSpPr>
          <p:nvPr userDrawn="1"/>
        </p:nvSpPr>
        <p:spPr>
          <a:xfrm>
            <a:off x="355871" y="7182948"/>
            <a:ext cx="2166098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latin typeface="Avenir Next Medium" panose="020B0603020202020204" pitchFamily="34" charset="0"/>
              </a:rPr>
              <a:t>Sin Límites</a:t>
            </a:r>
            <a:endParaRPr lang="es-CO" b="1" i="0">
              <a:latin typeface="Avenir Next Medium" panose="020B0603020202020204" pitchFamily="34" charset="0"/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3D59DB55-2BA0-48E4-99AD-A990B456B79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48400" y="7140250"/>
            <a:ext cx="1397480" cy="501858"/>
          </a:xfrm>
          <a:prstGeom prst="rect">
            <a:avLst/>
          </a:prstGeom>
        </p:spPr>
      </p:pic>
      <p:sp>
        <p:nvSpPr>
          <p:cNvPr id="17" name="Subtítulo 2">
            <a:extLst>
              <a:ext uri="{FF2B5EF4-FFF2-40B4-BE49-F238E27FC236}">
                <a16:creationId xmlns:a16="http://schemas.microsoft.com/office/drawing/2014/main" id="{B17B070F-9108-4391-AD07-36FE81B3F768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5806867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75000"/>
                  </a:schemeClr>
                </a:solidFill>
              </a:rPr>
              <a:t>Vigilada </a:t>
            </a:r>
            <a:r>
              <a:rPr lang="es-ES" sz="1200" err="1">
                <a:solidFill>
                  <a:schemeClr val="bg1">
                    <a:lumMod val="75000"/>
                  </a:schemeClr>
                </a:solidFill>
              </a:rPr>
              <a:t>Mineducación</a:t>
            </a:r>
            <a:endParaRPr lang="es-CO" sz="12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97737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10BBB9-CACB-4062-BDD5-89B6ED03E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21" y="1450848"/>
            <a:ext cx="13057536" cy="53444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E519DCCA-0C8E-406B-8A6A-4A12DE06F0A2}"/>
              </a:ext>
            </a:extLst>
          </p:cNvPr>
          <p:cNvCxnSpPr>
            <a:cxnSpLocks/>
          </p:cNvCxnSpPr>
          <p:nvPr/>
        </p:nvCxnSpPr>
        <p:spPr>
          <a:xfrm>
            <a:off x="11046889" y="338244"/>
            <a:ext cx="0" cy="709080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creditos youtube UPB_3.jpg" descr="creditos youtube UPB_3.jpg">
            <a:extLst>
              <a:ext uri="{FF2B5EF4-FFF2-40B4-BE49-F238E27FC236}">
                <a16:creationId xmlns:a16="http://schemas.microsoft.com/office/drawing/2014/main" id="{43F502CE-C4E3-4ED6-8863-E51CE1D1B4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907" b="80218"/>
          <a:stretch>
            <a:fillRect/>
          </a:stretch>
        </p:blipFill>
        <p:spPr>
          <a:xfrm>
            <a:off x="11237315" y="260881"/>
            <a:ext cx="2345450" cy="928520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20956670-5A7F-49D4-8722-176461DFD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‹#›</a:t>
            </a:fld>
            <a:endParaRPr lang="es-CO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F98C3BA5-13A6-4C67-9E38-A11D21214C24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ítulo 1">
            <a:extLst>
              <a:ext uri="{FF2B5EF4-FFF2-40B4-BE49-F238E27FC236}">
                <a16:creationId xmlns:a16="http://schemas.microsoft.com/office/drawing/2014/main" id="{EF6EAF07-730A-4E35-915E-D653A32028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0643" y="265821"/>
            <a:ext cx="8398892" cy="972784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Vice City Sans" panose="02000000000000000000" pitchFamily="50" charset="0"/>
              </a:defRPr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18" name="Subtítulo 2">
            <a:extLst>
              <a:ext uri="{FF2B5EF4-FFF2-40B4-BE49-F238E27FC236}">
                <a16:creationId xmlns:a16="http://schemas.microsoft.com/office/drawing/2014/main" id="{64F9F4BF-687B-4F7C-AD42-36AB89F22748}"/>
              </a:ext>
            </a:extLst>
          </p:cNvPr>
          <p:cNvSpPr txBox="1">
            <a:spLocks/>
          </p:cNvSpPr>
          <p:nvPr userDrawn="1"/>
        </p:nvSpPr>
        <p:spPr>
          <a:xfrm>
            <a:off x="355871" y="7182948"/>
            <a:ext cx="2166098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bg1"/>
                </a:solidFill>
                <a:latin typeface="Avenir Next Medium" panose="020B0603020202020204" pitchFamily="34" charset="0"/>
              </a:rPr>
              <a:t>Sin Límites</a:t>
            </a:r>
            <a:endParaRPr lang="es-CO" b="1" i="0">
              <a:solidFill>
                <a:schemeClr val="bg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3FFF5260-7128-4E59-A75B-BB53F0308A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89686" y="7144087"/>
            <a:ext cx="1336796" cy="480065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78A9F594-838A-45CA-B7A3-101BEA134EAF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5806867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Vigilada </a:t>
            </a:r>
            <a:r>
              <a:rPr lang="es-ES"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Mineducación</a:t>
            </a:r>
            <a:endParaRPr lang="es-CO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89756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reditos youtube UPB_2.jpg" descr="creditos youtube UPB_2.jpg">
            <a:extLst>
              <a:ext uri="{FF2B5EF4-FFF2-40B4-BE49-F238E27FC236}">
                <a16:creationId xmlns:a16="http://schemas.microsoft.com/office/drawing/2014/main" id="{A8FC3443-A568-4A31-B30F-DFAE03EFBB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9991" t="988" r="326" b="85983"/>
          <a:stretch>
            <a:fillRect/>
          </a:stretch>
        </p:blipFill>
        <p:spPr>
          <a:xfrm>
            <a:off x="11237315" y="260880"/>
            <a:ext cx="2345450" cy="872804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99A559-37E2-4DD1-8571-ED901D41D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‹#›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60A3E07-8463-4576-BFB8-4FCC231AB247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ubtítulo 2">
            <a:extLst>
              <a:ext uri="{FF2B5EF4-FFF2-40B4-BE49-F238E27FC236}">
                <a16:creationId xmlns:a16="http://schemas.microsoft.com/office/drawing/2014/main" id="{29F5D56D-B146-4388-986D-C9726148BC9D}"/>
              </a:ext>
            </a:extLst>
          </p:cNvPr>
          <p:cNvSpPr txBox="1">
            <a:spLocks/>
          </p:cNvSpPr>
          <p:nvPr userDrawn="1"/>
        </p:nvSpPr>
        <p:spPr>
          <a:xfrm>
            <a:off x="355871" y="7182948"/>
            <a:ext cx="2166098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latin typeface="Avenir Next Medium" panose="020B0603020202020204" pitchFamily="34" charset="0"/>
              </a:rPr>
              <a:t>Sin Límites</a:t>
            </a:r>
            <a:endParaRPr lang="es-CO" b="1" i="0">
              <a:latin typeface="Avenir Next Medium" panose="020B0603020202020204" pitchFamily="34" charset="0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38FC236E-013F-4060-A771-D9388B784A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48400" y="7140250"/>
            <a:ext cx="1397480" cy="501858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DEB6E044-0575-49EB-A31A-12D37D1AD0A6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5806867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bg1">
                    <a:lumMod val="75000"/>
                  </a:schemeClr>
                </a:solidFill>
              </a:rPr>
              <a:t>Vigilada </a:t>
            </a:r>
            <a:r>
              <a:rPr lang="es-ES" sz="1200" err="1">
                <a:solidFill>
                  <a:schemeClr val="bg1">
                    <a:lumMod val="75000"/>
                  </a:schemeClr>
                </a:solidFill>
              </a:rPr>
              <a:t>Mineducación</a:t>
            </a:r>
            <a:endParaRPr lang="es-CO" sz="120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893235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reditos youtube UPB_3.jpg" descr="creditos youtube UPB_3.jpg">
            <a:extLst>
              <a:ext uri="{FF2B5EF4-FFF2-40B4-BE49-F238E27FC236}">
                <a16:creationId xmlns:a16="http://schemas.microsoft.com/office/drawing/2014/main" id="{43F502CE-C4E3-4ED6-8863-E51CE1D1B4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1907" b="80218"/>
          <a:stretch>
            <a:fillRect/>
          </a:stretch>
        </p:blipFill>
        <p:spPr>
          <a:xfrm>
            <a:off x="11237315" y="260881"/>
            <a:ext cx="2345450" cy="928520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23B0B8-AF4E-4772-B211-71B3D1DD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4078" y="7182948"/>
            <a:ext cx="716948" cy="413808"/>
          </a:xfrm>
        </p:spPr>
        <p:txBody>
          <a:bodyPr/>
          <a:lstStyle>
            <a:lvl1pPr>
              <a:defRPr sz="1133"/>
            </a:lvl1pPr>
          </a:lstStyle>
          <a:p>
            <a:fld id="{B453E7C7-8AE5-4AED-AD03-ACF7236A778A}" type="slidenum">
              <a:rPr lang="es-CO" smtClean="0"/>
              <a:pPr/>
              <a:t>‹#›</a:t>
            </a:fld>
            <a:endParaRPr lang="es-CO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C1AF250-82BD-4487-AE36-B7878660DB59}"/>
              </a:ext>
            </a:extLst>
          </p:cNvPr>
          <p:cNvCxnSpPr>
            <a:cxnSpLocks/>
          </p:cNvCxnSpPr>
          <p:nvPr userDrawn="1"/>
        </p:nvCxnSpPr>
        <p:spPr>
          <a:xfrm>
            <a:off x="11999712" y="7155553"/>
            <a:ext cx="0" cy="468599"/>
          </a:xfrm>
          <a:prstGeom prst="line">
            <a:avLst/>
          </a:prstGeom>
          <a:ln>
            <a:solidFill>
              <a:srgbClr val="CA28B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ubtítulo 2">
            <a:extLst>
              <a:ext uri="{FF2B5EF4-FFF2-40B4-BE49-F238E27FC236}">
                <a16:creationId xmlns:a16="http://schemas.microsoft.com/office/drawing/2014/main" id="{D16D71BA-3EB6-4C55-95DB-49C4780A6336}"/>
              </a:ext>
            </a:extLst>
          </p:cNvPr>
          <p:cNvSpPr txBox="1">
            <a:spLocks/>
          </p:cNvSpPr>
          <p:nvPr userDrawn="1"/>
        </p:nvSpPr>
        <p:spPr>
          <a:xfrm>
            <a:off x="355871" y="7182948"/>
            <a:ext cx="2166098" cy="4138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" b="1" i="0">
                <a:solidFill>
                  <a:schemeClr val="bg1"/>
                </a:solidFill>
                <a:latin typeface="Avenir Next Medium" panose="020B0603020202020204" pitchFamily="34" charset="0"/>
              </a:rPr>
              <a:t>Sin Límites</a:t>
            </a:r>
            <a:endParaRPr lang="es-CO" b="1" i="0">
              <a:solidFill>
                <a:schemeClr val="bg1"/>
              </a:solidFill>
              <a:latin typeface="Avenir Next Medium" panose="020B0603020202020204" pitchFamily="34" charset="0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375EB8E-3BCB-4783-BA02-63B6BC4F41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89686" y="7144087"/>
            <a:ext cx="1336796" cy="480065"/>
          </a:xfrm>
          <a:prstGeom prst="rect">
            <a:avLst/>
          </a:prstGeom>
        </p:spPr>
      </p:pic>
      <p:sp>
        <p:nvSpPr>
          <p:cNvPr id="8" name="Subtítulo 2">
            <a:extLst>
              <a:ext uri="{FF2B5EF4-FFF2-40B4-BE49-F238E27FC236}">
                <a16:creationId xmlns:a16="http://schemas.microsoft.com/office/drawing/2014/main" id="{CD95C39D-1678-4144-854F-6707ACA0A64E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2687461" y="5806867"/>
            <a:ext cx="2010348" cy="249931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0" indent="0" algn="r" defTabSz="1036290" rtl="0" eaLnBrk="1" latinLnBrk="0" hangingPunct="1">
              <a:lnSpc>
                <a:spcPct val="90000"/>
              </a:lnSpc>
              <a:spcBef>
                <a:spcPts val="1133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venir Next" panose="020B0503020202020204" pitchFamily="34" charset="0"/>
                <a:ea typeface="+mn-ea"/>
                <a:cs typeface="+mn-cs"/>
              </a:defRPr>
            </a:lvl1pPr>
            <a:lvl2pPr marL="518145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267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2pPr>
            <a:lvl3pPr marL="1036290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204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3pPr>
            <a:lvl4pPr marL="155443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4pPr>
            <a:lvl5pPr marL="207257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ova Light" panose="020B0304020202020204" pitchFamily="34" charset="0"/>
                <a:ea typeface="+mn-ea"/>
                <a:cs typeface="+mn-cs"/>
              </a:defRPr>
            </a:lvl5pPr>
            <a:lvl6pPr marL="2590724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08869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27013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45158" indent="0" algn="ctr" defTabSz="1036290" rtl="0" eaLnBrk="1" latinLnBrk="0" hangingPunct="1">
              <a:lnSpc>
                <a:spcPct val="90000"/>
              </a:lnSpc>
              <a:spcBef>
                <a:spcPts val="567"/>
              </a:spcBef>
              <a:buFont typeface="Arial" panose="020B0604020202020204" pitchFamily="34" charset="0"/>
              <a:buNone/>
              <a:defRPr sz="18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200">
                <a:solidFill>
                  <a:schemeClr val="tx1">
                    <a:lumMod val="50000"/>
                    <a:lumOff val="50000"/>
                  </a:schemeClr>
                </a:solidFill>
              </a:rPr>
              <a:t>Vigilada </a:t>
            </a:r>
            <a:r>
              <a:rPr lang="es-ES" sz="1200" err="1">
                <a:solidFill>
                  <a:schemeClr val="tx1">
                    <a:lumMod val="50000"/>
                    <a:lumOff val="50000"/>
                  </a:schemeClr>
                </a:solidFill>
              </a:rPr>
              <a:t>Mineducación</a:t>
            </a:r>
            <a:endParaRPr lang="es-CO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54079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0325FA-493F-414B-9F4D-48D79DCDA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960" y="413809"/>
            <a:ext cx="1191768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EA7632-4E47-4D76-AD2A-A7BB28E482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9960" y="2069042"/>
            <a:ext cx="1191768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D7D1B44-BC11-48C4-A76E-BB9406089D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49960" y="7203864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6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57B0B941-4A50-40E2-B280-513CE8BFB539}" type="datetimeFigureOut">
              <a:rPr lang="es-CO" smtClean="0"/>
              <a:pPr/>
              <a:t>1/03/26</a:t>
            </a:fld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25E32E-CB67-48D4-B523-EA4227A21C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29901" y="7203864"/>
            <a:ext cx="310896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6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B453E7C7-8AE5-4AED-AD03-ACF7236A778A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3135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</p:sldLayoutIdLst>
  <p:hf hdr="0" ftr="0" dt="0"/>
  <p:txStyles>
    <p:titleStyle>
      <a:lvl1pPr algn="l" defTabSz="1036290" rtl="0" eaLnBrk="1" latinLnBrk="0" hangingPunct="1">
        <a:lnSpc>
          <a:spcPct val="90000"/>
        </a:lnSpc>
        <a:spcBef>
          <a:spcPct val="0"/>
        </a:spcBef>
        <a:buNone/>
        <a:defRPr sz="4080" b="1" kern="1200">
          <a:solidFill>
            <a:schemeClr val="tx1">
              <a:lumMod val="75000"/>
              <a:lumOff val="25000"/>
            </a:schemeClr>
          </a:solidFill>
          <a:latin typeface="Arial Nova Light" panose="020B0304020202020204" pitchFamily="34" charset="0"/>
          <a:ea typeface="+mj-ea"/>
          <a:cs typeface="+mj-cs"/>
        </a:defRPr>
      </a:lvl1pPr>
    </p:titleStyle>
    <p:bodyStyle>
      <a:lvl1pPr marL="259072" indent="-259072" algn="l" defTabSz="1036290" rtl="0" eaLnBrk="1" latinLnBrk="0" hangingPunct="1">
        <a:lnSpc>
          <a:spcPct val="90000"/>
        </a:lnSpc>
        <a:spcBef>
          <a:spcPts val="1133"/>
        </a:spcBef>
        <a:buFont typeface="Arial" panose="020B0604020202020204" pitchFamily="34" charset="0"/>
        <a:buChar char="•"/>
        <a:defRPr sz="272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1pPr>
      <a:lvl2pPr marL="77721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267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2pPr>
      <a:lvl3pPr marL="1295362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3pPr>
      <a:lvl4pPr marL="1813507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1813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4pPr>
      <a:lvl5pPr marL="233165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1813" kern="1200">
          <a:solidFill>
            <a:schemeClr val="tx1">
              <a:lumMod val="65000"/>
              <a:lumOff val="35000"/>
            </a:schemeClr>
          </a:solidFill>
          <a:latin typeface="Arial Nova Light" panose="020B0304020202020204" pitchFamily="34" charset="0"/>
          <a:ea typeface="+mn-ea"/>
          <a:cs typeface="+mn-cs"/>
        </a:defRPr>
      </a:lvl5pPr>
      <a:lvl6pPr marL="284979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367941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886086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404230" indent="-259072" algn="l" defTabSz="1036290" rtl="0" eaLnBrk="1" latinLnBrk="0" hangingPunct="1">
        <a:lnSpc>
          <a:spcPct val="90000"/>
        </a:lnSpc>
        <a:spcBef>
          <a:spcPts val="567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1pPr>
      <a:lvl2pPr marL="518145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1036290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3pPr>
      <a:lvl4pPr marL="155443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4pPr>
      <a:lvl5pPr marL="207257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5pPr>
      <a:lvl6pPr marL="2590724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6pPr>
      <a:lvl7pPr marL="3108869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7pPr>
      <a:lvl8pPr marL="3627013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8pPr>
      <a:lvl9pPr marL="4145158" algn="l" defTabSz="1036290" rtl="0" eaLnBrk="1" latinLnBrk="0" hangingPunct="1">
        <a:defRPr sz="20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E62230-D1DE-43BE-AADA-39AB98D9C1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O">
                <a:solidFill>
                  <a:schemeClr val="bg1"/>
                </a:solidFill>
              </a:rPr>
              <a:t>Ingeniería de Ciencia de Datos</a:t>
            </a:r>
            <a:br>
              <a:rPr lang="es-CO">
                <a:solidFill>
                  <a:schemeClr val="bg1"/>
                </a:solidFill>
              </a:rPr>
            </a:br>
            <a:r>
              <a:rPr lang="es-CO">
                <a:solidFill>
                  <a:schemeClr val="bg1"/>
                </a:solidFill>
              </a:rPr>
              <a:t>Big Data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8CBE1F5-DE6C-4FE3-B379-8FE71F4A14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err="1">
                <a:solidFill>
                  <a:schemeClr val="bg1"/>
                </a:solidFill>
              </a:rPr>
              <a:t>MSc</a:t>
            </a:r>
            <a:r>
              <a:rPr lang="es-CO">
                <a:solidFill>
                  <a:schemeClr val="bg1"/>
                </a:solidFill>
              </a:rPr>
              <a:t>. Camilo A. Soto Montoya</a:t>
            </a:r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C2E982-36C0-498C-B328-C7952B442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E7C7-8AE5-4AED-AD03-ACF7236A778A}" type="slidenum">
              <a:rPr lang="es-CO" smtClean="0"/>
              <a:pPr/>
              <a:t>1</a:t>
            </a:fld>
            <a:endParaRPr lang="es-CO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698CE-386C-9D2C-53F7-7B2C5D85B611}"/>
              </a:ext>
            </a:extLst>
          </p:cNvPr>
          <p:cNvSpPr txBox="1"/>
          <p:nvPr/>
        </p:nvSpPr>
        <p:spPr>
          <a:xfrm>
            <a:off x="1743668" y="2616200"/>
            <a:ext cx="16289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Spark 101</a:t>
            </a:r>
            <a:endParaRPr lang="en-CO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373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037BC0D-6757-A159-3221-EFD6BDF22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Apache Spark es un motor </a:t>
            </a:r>
            <a:r>
              <a:rPr lang="en-US" dirty="0" err="1"/>
              <a:t>unificado</a:t>
            </a:r>
            <a:r>
              <a:rPr lang="en-US" dirty="0"/>
              <a:t> de </a:t>
            </a:r>
            <a:r>
              <a:rPr lang="en-US" dirty="0" err="1"/>
              <a:t>analíticas</a:t>
            </a:r>
            <a:r>
              <a:rPr lang="en-US" dirty="0"/>
              <a:t> para </a:t>
            </a:r>
            <a:r>
              <a:rPr lang="en-US" dirty="0" err="1"/>
              <a:t>procesar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a gran </a:t>
            </a:r>
            <a:r>
              <a:rPr lang="en-US" dirty="0" err="1"/>
              <a:t>escala</a:t>
            </a:r>
            <a:r>
              <a:rPr lang="en-US" dirty="0"/>
              <a:t> que integra </a:t>
            </a:r>
            <a:r>
              <a:rPr lang="en-US" dirty="0" err="1"/>
              <a:t>módulos</a:t>
            </a:r>
            <a:r>
              <a:rPr lang="en-US" dirty="0"/>
              <a:t> para SQL, streaming, </a:t>
            </a:r>
            <a:r>
              <a:rPr lang="en-US" dirty="0" err="1"/>
              <a:t>aprendizaje</a:t>
            </a:r>
            <a:r>
              <a:rPr lang="en-US" dirty="0"/>
              <a:t> </a:t>
            </a:r>
            <a:r>
              <a:rPr lang="en-US" dirty="0" err="1"/>
              <a:t>automático</a:t>
            </a:r>
            <a:r>
              <a:rPr lang="en-US" dirty="0"/>
              <a:t> y </a:t>
            </a:r>
            <a:r>
              <a:rPr lang="en-US" dirty="0" err="1"/>
              <a:t>procesamiento</a:t>
            </a:r>
            <a:r>
              <a:rPr lang="en-US" dirty="0"/>
              <a:t> de </a:t>
            </a:r>
            <a:r>
              <a:rPr lang="en-US" dirty="0" err="1"/>
              <a:t>grafos</a:t>
            </a:r>
            <a:r>
              <a:rPr lang="en-US" dirty="0"/>
              <a:t>. Spark 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ejecutar</a:t>
            </a:r>
            <a:r>
              <a:rPr lang="en-US" dirty="0"/>
              <a:t> de forma </a:t>
            </a:r>
            <a:r>
              <a:rPr lang="en-US" dirty="0" err="1"/>
              <a:t>independiente</a:t>
            </a:r>
            <a:r>
              <a:rPr lang="en-US" dirty="0"/>
              <a:t> o </a:t>
            </a:r>
            <a:r>
              <a:rPr lang="en-US" dirty="0" err="1"/>
              <a:t>en</a:t>
            </a:r>
            <a:r>
              <a:rPr lang="en-US" dirty="0"/>
              <a:t> Apache Hadoop, Apache Mesos, Kubernetes, la </a:t>
            </a:r>
            <a:r>
              <a:rPr lang="en-US" dirty="0" err="1"/>
              <a:t>nube</a:t>
            </a:r>
            <a:r>
              <a:rPr lang="en-US" dirty="0"/>
              <a:t> y </a:t>
            </a:r>
            <a:r>
              <a:rPr lang="en-US" dirty="0" err="1"/>
              <a:t>distintas</a:t>
            </a:r>
            <a:r>
              <a:rPr lang="en-US" dirty="0"/>
              <a:t> </a:t>
            </a:r>
            <a:r>
              <a:rPr lang="en-US" dirty="0" err="1"/>
              <a:t>fuentes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A8FD01A-DF2C-BBAF-5413-A8B7702F6C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es spark?</a:t>
            </a:r>
            <a:endParaRPr lang="en-CO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E787F-E19B-09ED-4B81-5A7CB014E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E7C7-8AE5-4AED-AD03-ACF7236A778A}" type="slidenum">
              <a:rPr lang="es-CO" smtClean="0"/>
              <a:pPr/>
              <a:t>2</a:t>
            </a:fld>
            <a:endParaRPr lang="es-CO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39B9940-EDCF-96DF-6CF4-CA84EDD5D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0089" y="3733800"/>
            <a:ext cx="39624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0277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C9EBD9-75EC-EDE5-A30D-778B49169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O" dirty="0"/>
              <a:t>Componentes:</a:t>
            </a:r>
          </a:p>
          <a:p>
            <a:r>
              <a:rPr lang="en-US" dirty="0"/>
              <a:t>Driver: </a:t>
            </a:r>
            <a:r>
              <a:rPr lang="en-US" dirty="0" err="1"/>
              <a:t>este</a:t>
            </a:r>
            <a:r>
              <a:rPr lang="en-US" dirty="0"/>
              <a:t> 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proceso</a:t>
            </a:r>
            <a:r>
              <a:rPr lang="en-US" dirty="0"/>
              <a:t> principal, </a:t>
            </a:r>
            <a:r>
              <a:rPr lang="en-US" dirty="0" err="1"/>
              <a:t>controla</a:t>
            </a:r>
            <a:r>
              <a:rPr lang="en-US" dirty="0"/>
              <a:t> </a:t>
            </a:r>
            <a:r>
              <a:rPr lang="en-US" dirty="0" err="1"/>
              <a:t>toda</a:t>
            </a:r>
            <a:r>
              <a:rPr lang="en-US" dirty="0"/>
              <a:t> la </a:t>
            </a:r>
            <a:r>
              <a:rPr lang="en-US" dirty="0" err="1"/>
              <a:t>aplicación</a:t>
            </a:r>
            <a:r>
              <a:rPr lang="en-US" dirty="0"/>
              <a:t> y </a:t>
            </a:r>
            <a:r>
              <a:rPr lang="en-US" dirty="0" err="1"/>
              <a:t>ejecuta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SparkContext</a:t>
            </a:r>
            <a:r>
              <a:rPr lang="en-US" dirty="0"/>
              <a:t>.</a:t>
            </a:r>
          </a:p>
          <a:p>
            <a:r>
              <a:rPr lang="en-US" dirty="0"/>
              <a:t>Worker Node: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referencia</a:t>
            </a:r>
            <a:r>
              <a:rPr lang="en-US" dirty="0"/>
              <a:t> a las </a:t>
            </a:r>
            <a:r>
              <a:rPr lang="en-US" dirty="0" err="1"/>
              <a:t>máquinas</a:t>
            </a:r>
            <a:r>
              <a:rPr lang="en-US" dirty="0"/>
              <a:t> que </a:t>
            </a:r>
            <a:r>
              <a:rPr lang="en-US" dirty="0" err="1"/>
              <a:t>dependen</a:t>
            </a:r>
            <a:r>
              <a:rPr lang="en-US" dirty="0"/>
              <a:t> del backend y que se </a:t>
            </a:r>
            <a:r>
              <a:rPr lang="en-US" dirty="0" err="1"/>
              <a:t>encargan</a:t>
            </a:r>
            <a:r>
              <a:rPr lang="en-US" dirty="0"/>
              <a:t> de </a:t>
            </a:r>
            <a:r>
              <a:rPr lang="en-US" dirty="0" err="1"/>
              <a:t>ejecutar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procesos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executors.</a:t>
            </a:r>
          </a:p>
          <a:p>
            <a:r>
              <a:rPr lang="en-US" dirty="0"/>
              <a:t>Executors: 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proceso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que </a:t>
            </a:r>
            <a:r>
              <a:rPr lang="en-US" dirty="0" err="1"/>
              <a:t>realizan</a:t>
            </a:r>
            <a:r>
              <a:rPr lang="en-US" dirty="0"/>
              <a:t> la carga de </a:t>
            </a:r>
            <a:r>
              <a:rPr lang="en-US" dirty="0" err="1"/>
              <a:t>trabajo</a:t>
            </a:r>
            <a:r>
              <a:rPr lang="en-US" dirty="0"/>
              <a:t>, de </a:t>
            </a:r>
            <a:r>
              <a:rPr lang="en-US" dirty="0" err="1"/>
              <a:t>manera</a:t>
            </a:r>
            <a:r>
              <a:rPr lang="en-US" dirty="0"/>
              <a:t> que</a:t>
            </a:r>
          </a:p>
          <a:p>
            <a:pPr marL="0" indent="0">
              <a:buNone/>
            </a:pPr>
            <a:r>
              <a:rPr lang="en-US" dirty="0" err="1"/>
              <a:t>obtienen</a:t>
            </a:r>
            <a:r>
              <a:rPr lang="en-US" dirty="0"/>
              <a:t> sus </a:t>
            </a:r>
            <a:r>
              <a:rPr lang="en-US" dirty="0" err="1"/>
              <a:t>tareas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driver para </a:t>
            </a:r>
            <a:r>
              <a:rPr lang="en-US" dirty="0" err="1"/>
              <a:t>cargar</a:t>
            </a:r>
            <a:r>
              <a:rPr lang="en-US" dirty="0"/>
              <a:t>, </a:t>
            </a:r>
            <a:r>
              <a:rPr lang="en-US" dirty="0" err="1"/>
              <a:t>transformar</a:t>
            </a:r>
            <a:r>
              <a:rPr lang="en-US" dirty="0"/>
              <a:t> y </a:t>
            </a:r>
            <a:r>
              <a:rPr lang="en-US" dirty="0" err="1"/>
              <a:t>almacenar</a:t>
            </a:r>
            <a:r>
              <a:rPr lang="en-US" dirty="0"/>
              <a:t> </a:t>
            </a:r>
            <a:r>
              <a:rPr lang="en-US" dirty="0" err="1"/>
              <a:t>los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datos</a:t>
            </a:r>
            <a:r>
              <a:rPr lang="en-US" dirty="0"/>
              <a:t>.</a:t>
            </a:r>
            <a:endParaRPr lang="en-CO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BD0525-E7EF-DB99-1935-DD927807AE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O" dirty="0"/>
              <a:t>¿Qué es Spark?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392124-468F-7174-460F-E076F105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E7C7-8AE5-4AED-AD03-ACF7236A778A}" type="slidenum">
              <a:rPr lang="es-CO" smtClean="0"/>
              <a:pPr/>
              <a:t>3</a:t>
            </a:fld>
            <a:endParaRPr lang="es-CO"/>
          </a:p>
        </p:txBody>
      </p:sp>
      <p:pic>
        <p:nvPicPr>
          <p:cNvPr id="2050" name="Picture 2" descr="Cómo es la arquitectura de Apache Spark? [2025]">
            <a:extLst>
              <a:ext uri="{FF2B5EF4-FFF2-40B4-BE49-F238E27FC236}">
                <a16:creationId xmlns:a16="http://schemas.microsoft.com/office/drawing/2014/main" id="{E356AB0E-0B8C-B08B-1AB6-30EABE0761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199" y="4760913"/>
            <a:ext cx="5459741" cy="2619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1322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31E655-3245-94DE-C4B4-48924756FC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O" dirty="0"/>
              <a:t>Arquitectura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1FC94-CD38-84B4-BAD5-F5276E749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E7C7-8AE5-4AED-AD03-ACF7236A778A}" type="slidenum">
              <a:rPr lang="es-CO" smtClean="0"/>
              <a:pPr/>
              <a:t>4</a:t>
            </a:fld>
            <a:endParaRPr lang="es-CO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E29BCB7-8F8D-704F-0F0F-607ECEAE9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400" y="2159000"/>
            <a:ext cx="8890000" cy="43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325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962E19-1A58-4334-96A0-39D8BF8DB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1600" dirty="0" err="1"/>
              <a:t>Prerrequisitos</a:t>
            </a:r>
            <a:r>
              <a:rPr sz="1600" dirty="0"/>
              <a:t>:</a:t>
            </a:r>
          </a:p>
          <a:p>
            <a:r>
              <a:rPr sz="1600" dirty="0"/>
              <a:t>Docker y Docker Compose </a:t>
            </a:r>
            <a:r>
              <a:rPr sz="1600" dirty="0" err="1"/>
              <a:t>instalados</a:t>
            </a:r>
            <a:endParaRPr sz="1600" dirty="0"/>
          </a:p>
          <a:p>
            <a:r>
              <a:rPr sz="1600" dirty="0"/>
              <a:t>No se </a:t>
            </a:r>
            <a:r>
              <a:rPr sz="1600" dirty="0" err="1"/>
              <a:t>necesita</a:t>
            </a:r>
            <a:r>
              <a:rPr sz="1600" dirty="0"/>
              <a:t> </a:t>
            </a:r>
            <a:r>
              <a:rPr sz="1600" dirty="0" err="1"/>
              <a:t>instalar</a:t>
            </a:r>
            <a:r>
              <a:rPr sz="1600" dirty="0"/>
              <a:t> Java </a:t>
            </a:r>
            <a:r>
              <a:rPr sz="1600" dirty="0" err="1"/>
              <a:t>ni</a:t>
            </a:r>
            <a:r>
              <a:rPr sz="1600" dirty="0"/>
              <a:t> </a:t>
            </a:r>
            <a:r>
              <a:rPr sz="1600" dirty="0" err="1"/>
              <a:t>PySpark</a:t>
            </a:r>
            <a:r>
              <a:rPr sz="1600" dirty="0"/>
              <a:t> </a:t>
            </a:r>
            <a:r>
              <a:rPr sz="1600" dirty="0" err="1"/>
              <a:t>localmente</a:t>
            </a:r>
            <a:r>
              <a:rPr sz="1600" dirty="0"/>
              <a:t> — </a:t>
            </a:r>
            <a:r>
              <a:rPr sz="1600" dirty="0" err="1"/>
              <a:t>todo</a:t>
            </a:r>
            <a:r>
              <a:rPr sz="1600" dirty="0"/>
              <a:t> </a:t>
            </a:r>
            <a:r>
              <a:rPr sz="1600" dirty="0" err="1"/>
              <a:t>corre</a:t>
            </a:r>
            <a:r>
              <a:rPr sz="1600" dirty="0"/>
              <a:t> </a:t>
            </a:r>
            <a:r>
              <a:rPr sz="1600" dirty="0" err="1"/>
              <a:t>dentro</a:t>
            </a:r>
            <a:r>
              <a:rPr sz="1600" dirty="0"/>
              <a:t> de Docker</a:t>
            </a:r>
          </a:p>
          <a:p>
            <a:endParaRPr sz="1600" dirty="0"/>
          </a:p>
          <a:p>
            <a:pPr marL="0" indent="0">
              <a:buNone/>
            </a:pPr>
            <a:r>
              <a:rPr sz="1600" dirty="0"/>
              <a:t>Paso 1: </a:t>
            </a:r>
            <a:r>
              <a:rPr sz="1600" dirty="0" err="1"/>
              <a:t>Levantar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cluster</a:t>
            </a:r>
          </a:p>
          <a:p>
            <a:r>
              <a:rPr sz="1600" dirty="0"/>
              <a:t>cd modules/02-spark</a:t>
            </a:r>
          </a:p>
          <a:p>
            <a:r>
              <a:rPr sz="1600" dirty="0"/>
              <a:t>docker compose up -d</a:t>
            </a:r>
          </a:p>
          <a:p>
            <a:endParaRPr sz="1600" dirty="0"/>
          </a:p>
          <a:p>
            <a:pPr marL="0" indent="0">
              <a:buNone/>
            </a:pPr>
            <a:r>
              <a:rPr sz="1600" dirty="0"/>
              <a:t>Paso 2: </a:t>
            </a:r>
            <a:r>
              <a:rPr sz="1600" dirty="0" err="1"/>
              <a:t>Verificar</a:t>
            </a:r>
            <a:r>
              <a:rPr sz="1600" dirty="0"/>
              <a:t>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todo</a:t>
            </a:r>
            <a:r>
              <a:rPr sz="1600" dirty="0"/>
              <a:t> </a:t>
            </a:r>
            <a:r>
              <a:rPr sz="1600" dirty="0" err="1"/>
              <a:t>está</a:t>
            </a:r>
            <a:r>
              <a:rPr sz="1600" dirty="0"/>
              <a:t> </a:t>
            </a:r>
            <a:r>
              <a:rPr sz="1600" dirty="0" err="1"/>
              <a:t>corriendo</a:t>
            </a:r>
            <a:endParaRPr sz="1600" dirty="0"/>
          </a:p>
          <a:p>
            <a:r>
              <a:rPr sz="1600" dirty="0"/>
              <a:t>docker compose </a:t>
            </a:r>
            <a:r>
              <a:rPr sz="1600" dirty="0" err="1"/>
              <a:t>ps</a:t>
            </a:r>
            <a:endParaRPr sz="1600" dirty="0"/>
          </a:p>
          <a:p>
            <a:endParaRPr sz="1600" dirty="0"/>
          </a:p>
          <a:p>
            <a:pPr marL="0" indent="0">
              <a:buNone/>
            </a:pPr>
            <a:r>
              <a:rPr sz="1600" dirty="0" err="1"/>
              <a:t>Deberían</a:t>
            </a:r>
            <a:r>
              <a:rPr sz="1600" dirty="0"/>
              <a:t> </a:t>
            </a:r>
            <a:r>
              <a:rPr sz="1600" dirty="0" err="1"/>
              <a:t>ver</a:t>
            </a:r>
            <a:r>
              <a:rPr sz="1600" dirty="0"/>
              <a:t> 3 </a:t>
            </a:r>
            <a:r>
              <a:rPr sz="1600" dirty="0" err="1"/>
              <a:t>contenedores</a:t>
            </a:r>
            <a:r>
              <a:rPr sz="1600" dirty="0"/>
              <a:t>: spark-master, spark-worker-1, spark-worker-2</a:t>
            </a:r>
          </a:p>
          <a:p>
            <a:pPr marL="0" indent="0">
              <a:buNone/>
            </a:pPr>
            <a:endParaRPr sz="1600" dirty="0"/>
          </a:p>
          <a:p>
            <a:pPr marL="0" indent="0">
              <a:buNone/>
            </a:pPr>
            <a:r>
              <a:rPr sz="1600" dirty="0"/>
              <a:t>Paso 3: </a:t>
            </a:r>
            <a:r>
              <a:rPr sz="1600" dirty="0" err="1"/>
              <a:t>Abrir</a:t>
            </a:r>
            <a:r>
              <a:rPr sz="1600" dirty="0"/>
              <a:t> </a:t>
            </a:r>
            <a:r>
              <a:rPr sz="1600" dirty="0" err="1"/>
              <a:t>el</a:t>
            </a:r>
            <a:r>
              <a:rPr sz="1600" dirty="0"/>
              <a:t> Spark Master UI</a:t>
            </a:r>
          </a:p>
          <a:p>
            <a:r>
              <a:rPr sz="1600" dirty="0"/>
              <a:t>http://localhost:8080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26F5DF-1252-E1E3-7B88-11653EC231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Manos a la obra: Prerrequisitos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08614-F16F-4747-902E-1EA332782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E7C7-8AE5-4AED-AD03-ACF7236A778A}" type="slidenum">
              <a:rPr lang="es-CO" smtClean="0"/>
              <a:pPr/>
              <a:t>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7684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EEA34-3AF2-C962-C7E9-DDFDF8D89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AD63AD-1AC3-CA84-32B5-B0BE521242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Manos a la obra: Spark UI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08538-668D-340F-1D0A-B90AA2B52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E7C7-8AE5-4AED-AD03-ACF7236A778A}" type="slidenum">
              <a:rPr lang="es-CO" smtClean="0"/>
              <a:pPr/>
              <a:t>6</a:t>
            </a:fld>
            <a:endParaRPr lang="es-CO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A8DA4B-C4D7-0589-DA5D-411C43DE9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70" y="1334018"/>
            <a:ext cx="11947059" cy="5104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083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657E46-D121-AF64-CEC7-F26839D549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000" dirty="0" err="1"/>
              <a:t>Ejecutar</a:t>
            </a:r>
            <a:r>
              <a:rPr sz="2000" dirty="0"/>
              <a:t> un script con spark-submit:</a:t>
            </a:r>
          </a:p>
          <a:p>
            <a:pPr marL="0" indent="0">
              <a:buNone/>
            </a:pPr>
            <a:endParaRPr sz="2000" dirty="0"/>
          </a:p>
          <a:p>
            <a:pPr marL="0" indent="0">
              <a:buNone/>
            </a:pPr>
            <a:r>
              <a:rPr sz="2000" dirty="0" err="1"/>
              <a:t>Patrón</a:t>
            </a:r>
            <a:r>
              <a:rPr sz="2000" dirty="0"/>
              <a:t> general</a:t>
            </a:r>
          </a:p>
          <a:p>
            <a:r>
              <a:rPr sz="2000" dirty="0"/>
              <a:t>docker compose exec spark-master spark-submit /app/&lt;</a:t>
            </a:r>
            <a:r>
              <a:rPr sz="2000" dirty="0" err="1"/>
              <a:t>sección</a:t>
            </a:r>
            <a:r>
              <a:rPr sz="2000" dirty="0"/>
              <a:t>&gt;/&lt;script&gt;.</a:t>
            </a:r>
            <a:r>
              <a:rPr sz="2000" dirty="0" err="1"/>
              <a:t>py</a:t>
            </a:r>
            <a:endParaRPr sz="2000" dirty="0"/>
          </a:p>
          <a:p>
            <a:endParaRPr sz="2000" dirty="0"/>
          </a:p>
          <a:p>
            <a:pPr marL="0" indent="0">
              <a:buNone/>
            </a:pPr>
            <a:r>
              <a:rPr sz="2000" dirty="0" err="1"/>
              <a:t>Ejemplos</a:t>
            </a:r>
            <a:endParaRPr sz="2000" dirty="0"/>
          </a:p>
          <a:p>
            <a:r>
              <a:rPr sz="2000" dirty="0"/>
              <a:t>docker compose exec spark-master spark-submit /app/01-rdd-basics/</a:t>
            </a:r>
            <a:r>
              <a:rPr sz="2000" dirty="0" err="1"/>
              <a:t>rdd_wordcount.py</a:t>
            </a:r>
            <a:endParaRPr sz="2000" dirty="0"/>
          </a:p>
          <a:p>
            <a:r>
              <a:rPr sz="2000" dirty="0"/>
              <a:t>docker compose exec spark-master spark-submit /app/01-rdd-basics/</a:t>
            </a:r>
            <a:r>
              <a:rPr sz="2000" dirty="0" err="1"/>
              <a:t>rdd_temperature.py</a:t>
            </a:r>
            <a:endParaRPr sz="2000" dirty="0"/>
          </a:p>
          <a:p>
            <a:r>
              <a:rPr sz="2000" dirty="0"/>
              <a:t>docker compose exec spark-master spark-submit /app/02-architecture/</a:t>
            </a:r>
            <a:r>
              <a:rPr sz="2000" dirty="0" err="1"/>
              <a:t>architecture_demo.py</a:t>
            </a:r>
            <a:endParaRPr lang="es-419" sz="2000" dirty="0"/>
          </a:p>
          <a:p>
            <a:endParaRPr sz="2000" dirty="0"/>
          </a:p>
          <a:p>
            <a:r>
              <a:rPr sz="2000" dirty="0" err="1"/>
              <a:t>Detener</a:t>
            </a:r>
            <a:r>
              <a:rPr sz="2000" dirty="0"/>
              <a:t> </a:t>
            </a:r>
            <a:r>
              <a:rPr sz="2000" dirty="0" err="1"/>
              <a:t>el</a:t>
            </a:r>
            <a:r>
              <a:rPr sz="2000" dirty="0"/>
              <a:t> cluster:</a:t>
            </a:r>
          </a:p>
          <a:p>
            <a:r>
              <a:rPr sz="2000" dirty="0"/>
              <a:t>docker compose down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DE08E2-4DD6-251E-8DAF-13702E94E2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Manos a la obra: Ejecutar scripts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5B886F-7CB5-6966-B080-C121FEF65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E7C7-8AE5-4AED-AD03-ACF7236A778A}" type="slidenum">
              <a:rPr lang="es-CO" smtClean="0"/>
              <a:pPr/>
              <a:t>7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95666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9A1729-55E8-248E-CC15-239B0E913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objeto</a:t>
            </a:r>
            <a:r>
              <a:rPr lang="en-US" dirty="0"/>
              <a:t> que </a:t>
            </a:r>
            <a:r>
              <a:rPr lang="en-US" dirty="0" err="1"/>
              <a:t>tenemos</a:t>
            </a:r>
            <a:r>
              <a:rPr lang="en-US" dirty="0"/>
              <a:t> para </a:t>
            </a:r>
            <a:r>
              <a:rPr lang="en-US" dirty="0" err="1"/>
              <a:t>controlar</a:t>
            </a:r>
            <a:r>
              <a:rPr lang="en-US" dirty="0"/>
              <a:t> </a:t>
            </a:r>
            <a:r>
              <a:rPr lang="en-US" dirty="0" err="1"/>
              <a:t>nuestra</a:t>
            </a:r>
            <a:r>
              <a:rPr lang="en-US" dirty="0"/>
              <a:t> </a:t>
            </a:r>
            <a:r>
              <a:rPr lang="en-US" dirty="0" err="1"/>
              <a:t>aplicación</a:t>
            </a:r>
            <a:r>
              <a:rPr lang="en-US" dirty="0"/>
              <a:t> de Spark. En Scala la </a:t>
            </a:r>
            <a:r>
              <a:rPr lang="en-US" dirty="0" err="1"/>
              <a:t>variable“spark</a:t>
            </a:r>
            <a:r>
              <a:rPr lang="en-US" dirty="0"/>
              <a:t>” </a:t>
            </a:r>
            <a:r>
              <a:rPr lang="en-US" dirty="0" err="1"/>
              <a:t>representa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valor. Podemos </a:t>
            </a:r>
            <a:r>
              <a:rPr lang="en-US" dirty="0" err="1"/>
              <a:t>generar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sesión</a:t>
            </a:r>
            <a:r>
              <a:rPr lang="en-US" dirty="0"/>
              <a:t> de </a:t>
            </a:r>
            <a:r>
              <a:rPr lang="en-US" dirty="0" err="1"/>
              <a:t>SparkSession</a:t>
            </a:r>
            <a:r>
              <a:rPr lang="en-US" dirty="0"/>
              <a:t> a traves de un “builder . (</a:t>
            </a:r>
            <a:r>
              <a:rPr lang="en-US" dirty="0" err="1"/>
              <a:t>Aquí</a:t>
            </a:r>
            <a:r>
              <a:rPr lang="en-US" dirty="0"/>
              <a:t> </a:t>
            </a:r>
            <a:r>
              <a:rPr lang="en-US" dirty="0" err="1"/>
              <a:t>podremos</a:t>
            </a:r>
            <a:r>
              <a:rPr lang="en-US" dirty="0"/>
              <a:t> </a:t>
            </a:r>
            <a:r>
              <a:rPr lang="en-US" dirty="0" err="1"/>
              <a:t>inyectar</a:t>
            </a:r>
            <a:r>
              <a:rPr lang="en-US" dirty="0"/>
              <a:t> </a:t>
            </a:r>
            <a:r>
              <a:rPr lang="en-US" dirty="0" err="1"/>
              <a:t>configuraciones</a:t>
            </a:r>
            <a:r>
              <a:rPr lang="en-US" dirty="0"/>
              <a:t>, </a:t>
            </a:r>
            <a:r>
              <a:rPr lang="en-US" dirty="0" err="1"/>
              <a:t>etcétera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Nota: Spark Session </a:t>
            </a:r>
            <a:r>
              <a:rPr lang="en-US" dirty="0" err="1"/>
              <a:t>apareció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estándar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Spark 2.0, antes de </a:t>
            </a:r>
            <a:r>
              <a:rPr lang="en-US" dirty="0" err="1"/>
              <a:t>esto</a:t>
            </a:r>
            <a:r>
              <a:rPr lang="en-US" dirty="0"/>
              <a:t> se </a:t>
            </a:r>
            <a:r>
              <a:rPr lang="en-US" dirty="0" err="1"/>
              <a:t>utilizaba</a:t>
            </a:r>
            <a:r>
              <a:rPr lang="en-US" dirty="0"/>
              <a:t> un “Spark Context” que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permitía</a:t>
            </a:r>
            <a:r>
              <a:rPr lang="en-US" dirty="0"/>
              <a:t> </a:t>
            </a:r>
            <a:r>
              <a:rPr lang="en-US" dirty="0" err="1"/>
              <a:t>solamente</a:t>
            </a:r>
            <a:r>
              <a:rPr lang="en-US" dirty="0"/>
              <a:t> </a:t>
            </a:r>
            <a:r>
              <a:rPr lang="en-US" dirty="0" err="1"/>
              <a:t>crear</a:t>
            </a:r>
            <a:r>
              <a:rPr lang="en-US" dirty="0"/>
              <a:t> RDD’s. Si </a:t>
            </a:r>
            <a:r>
              <a:rPr lang="en-US" dirty="0" err="1"/>
              <a:t>queríamos</a:t>
            </a:r>
            <a:r>
              <a:rPr lang="en-US" dirty="0"/>
              <a:t> </a:t>
            </a:r>
            <a:r>
              <a:rPr lang="en-US" dirty="0" err="1"/>
              <a:t>hacer</a:t>
            </a:r>
            <a:r>
              <a:rPr lang="en-US" dirty="0"/>
              <a:t> algo con </a:t>
            </a:r>
            <a:r>
              <a:rPr lang="en-US" dirty="0" err="1"/>
              <a:t>sql</a:t>
            </a:r>
            <a:r>
              <a:rPr lang="en-US" dirty="0"/>
              <a:t> </a:t>
            </a:r>
            <a:r>
              <a:rPr lang="en-US" dirty="0" err="1"/>
              <a:t>había</a:t>
            </a:r>
            <a:r>
              <a:rPr lang="en-US" dirty="0"/>
              <a:t> que </a:t>
            </a:r>
            <a:r>
              <a:rPr lang="en-US" dirty="0" err="1"/>
              <a:t>instanciar</a:t>
            </a:r>
            <a:r>
              <a:rPr lang="en-US" dirty="0"/>
              <a:t> un </a:t>
            </a:r>
            <a:r>
              <a:rPr lang="en-US" dirty="0" err="1"/>
              <a:t>sqlContext</a:t>
            </a:r>
            <a:r>
              <a:rPr lang="en-US" dirty="0"/>
              <a:t>, para hive un </a:t>
            </a:r>
            <a:r>
              <a:rPr lang="en-US" dirty="0" err="1"/>
              <a:t>hiveContext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 err="1"/>
              <a:t>spark_session</a:t>
            </a:r>
            <a:r>
              <a:rPr lang="en-US" dirty="0"/>
              <a:t> = </a:t>
            </a:r>
            <a:r>
              <a:rPr lang="en-US" dirty="0" err="1"/>
              <a:t>SparkSession.builder.getOrCreate</a:t>
            </a:r>
            <a:r>
              <a:rPr lang="en-US" dirty="0"/>
              <a:t>()</a:t>
            </a:r>
          </a:p>
          <a:p>
            <a:pPr marL="0" indent="0">
              <a:buNone/>
            </a:pPr>
            <a:endParaRPr lang="en-CO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195CBA-4FB7-2545-EDB9-EFA529DE03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O" dirty="0"/>
              <a:t>Spark Session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A8D21-7EE3-DEA7-CAAC-A3151D659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E7C7-8AE5-4AED-AD03-ACF7236A778A}" type="slidenum">
              <a:rPr lang="es-CO" smtClean="0"/>
              <a:pPr/>
              <a:t>8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40107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56EEA2-E8FA-F96F-C332-3072619F9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621" y="1450848"/>
            <a:ext cx="13057536" cy="561035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Un RDD, </a:t>
            </a:r>
            <a:r>
              <a:rPr lang="en-US" dirty="0" err="1"/>
              <a:t>según</a:t>
            </a:r>
            <a:r>
              <a:rPr lang="en-US" dirty="0"/>
              <a:t> Spark, se define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b="1" dirty="0" err="1"/>
              <a:t>u</a:t>
            </a:r>
            <a:r>
              <a:rPr lang="en-US" b="1" u="sng" dirty="0" err="1"/>
              <a:t>na</a:t>
            </a:r>
            <a:r>
              <a:rPr lang="en-US" b="1" u="sng" dirty="0"/>
              <a:t> </a:t>
            </a:r>
            <a:r>
              <a:rPr lang="en-US" b="1" u="sng" dirty="0" err="1"/>
              <a:t>colección</a:t>
            </a:r>
            <a:r>
              <a:rPr lang="en-US" b="1" u="sng" dirty="0"/>
              <a:t> de </a:t>
            </a:r>
            <a:r>
              <a:rPr lang="en-US" b="1" u="sng" dirty="0" err="1"/>
              <a:t>elementos</a:t>
            </a:r>
            <a:r>
              <a:rPr lang="en-US" b="1" u="sng" dirty="0"/>
              <a:t> que es </a:t>
            </a:r>
            <a:r>
              <a:rPr lang="en-US" b="1" u="sng" dirty="0" err="1"/>
              <a:t>tolerante</a:t>
            </a:r>
            <a:r>
              <a:rPr lang="en-US" b="1" u="sng" dirty="0"/>
              <a:t> a </a:t>
            </a:r>
            <a:r>
              <a:rPr lang="en-US" b="1" u="sng" dirty="0" err="1"/>
              <a:t>fallos</a:t>
            </a:r>
            <a:r>
              <a:rPr lang="en-US" b="1" u="sng" dirty="0"/>
              <a:t> y que es </a:t>
            </a:r>
            <a:r>
              <a:rPr lang="en-US" b="1" u="sng" dirty="0" err="1"/>
              <a:t>capaz</a:t>
            </a:r>
            <a:r>
              <a:rPr lang="en-US" b="1" u="sng" dirty="0"/>
              <a:t> de </a:t>
            </a:r>
            <a:r>
              <a:rPr lang="en-US" b="1" u="sng" dirty="0" err="1"/>
              <a:t>operar</a:t>
            </a:r>
            <a:r>
              <a:rPr lang="en-US" b="1" u="sng" dirty="0"/>
              <a:t> </a:t>
            </a:r>
            <a:r>
              <a:rPr lang="en-US" b="1" u="sng" dirty="0" err="1"/>
              <a:t>en</a:t>
            </a:r>
            <a:r>
              <a:rPr lang="en-US" b="1" u="sng" dirty="0"/>
              <a:t> </a:t>
            </a:r>
            <a:r>
              <a:rPr lang="en-US" b="1" u="sng" dirty="0" err="1"/>
              <a:t>paralelo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Los RDDs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características</a:t>
            </a:r>
            <a:r>
              <a:rPr lang="en-US" dirty="0"/>
              <a:t> </a:t>
            </a:r>
            <a:r>
              <a:rPr lang="en-US" dirty="0" err="1"/>
              <a:t>principales</a:t>
            </a:r>
            <a:r>
              <a:rPr lang="en-US" dirty="0"/>
              <a:t> las </a:t>
            </a:r>
            <a:r>
              <a:rPr lang="en-US" dirty="0" err="1"/>
              <a:t>siguientes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Es la principal </a:t>
            </a:r>
            <a:r>
              <a:rPr lang="en-US" dirty="0" err="1"/>
              <a:t>abstracción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dato</a:t>
            </a:r>
            <a:r>
              <a:rPr lang="en-US" dirty="0"/>
              <a:t> </a:t>
            </a:r>
            <a:r>
              <a:rPr lang="en-US" dirty="0" err="1"/>
              <a:t>básico</a:t>
            </a:r>
            <a:r>
              <a:rPr lang="en-US" dirty="0"/>
              <a:t> que </a:t>
            </a:r>
            <a:r>
              <a:rPr lang="en-US" dirty="0" err="1"/>
              <a:t>tiene</a:t>
            </a:r>
            <a:r>
              <a:rPr lang="en-US" dirty="0"/>
              <a:t> Apache Spark.</a:t>
            </a:r>
          </a:p>
          <a:p>
            <a:pPr marL="518145" lvl="1" indent="0">
              <a:buNone/>
            </a:pPr>
            <a:endParaRPr lang="en-US" dirty="0"/>
          </a:p>
          <a:p>
            <a:pPr lvl="1"/>
            <a:r>
              <a:rPr lang="en-US" dirty="0"/>
              <a:t>Los RDD </a:t>
            </a:r>
            <a:r>
              <a:rPr lang="en-US" dirty="0" err="1"/>
              <a:t>están</a:t>
            </a:r>
            <a:r>
              <a:rPr lang="en-US" dirty="0"/>
              <a:t> </a:t>
            </a:r>
            <a:r>
              <a:rPr lang="en-US" dirty="0" err="1"/>
              <a:t>particionados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distintos</a:t>
            </a:r>
            <a:r>
              <a:rPr lang="en-US" dirty="0"/>
              <a:t> </a:t>
            </a:r>
            <a:r>
              <a:rPr lang="en-US" dirty="0" err="1"/>
              <a:t>nodos</a:t>
            </a:r>
            <a:r>
              <a:rPr lang="en-US" dirty="0"/>
              <a:t> del </a:t>
            </a:r>
            <a:r>
              <a:rPr lang="en-US" dirty="0" err="1"/>
              <a:t>clúster</a:t>
            </a:r>
            <a:r>
              <a:rPr lang="en-US" dirty="0"/>
              <a:t>, </a:t>
            </a:r>
            <a:r>
              <a:rPr lang="en-US" dirty="0" err="1"/>
              <a:t>ya</a:t>
            </a:r>
            <a:r>
              <a:rPr lang="en-US" dirty="0"/>
              <a:t> que Apache Spark se </a:t>
            </a:r>
            <a:r>
              <a:rPr lang="en-US" dirty="0" err="1"/>
              <a:t>suele</a:t>
            </a:r>
            <a:r>
              <a:rPr lang="en-US" dirty="0"/>
              <a:t> </a:t>
            </a:r>
            <a:r>
              <a:rPr lang="en-US" dirty="0" err="1"/>
              <a:t>instalar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clúster</a:t>
            </a:r>
            <a:r>
              <a:rPr lang="en-US" dirty="0"/>
              <a:t> o conjunto de </a:t>
            </a:r>
            <a:r>
              <a:rPr lang="en-US" dirty="0" err="1"/>
              <a:t>máquinas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lo que </a:t>
            </a:r>
            <a:r>
              <a:rPr lang="en-US" dirty="0" err="1"/>
              <a:t>esos</a:t>
            </a:r>
            <a:r>
              <a:rPr lang="en-US" dirty="0"/>
              <a:t> </a:t>
            </a:r>
            <a:r>
              <a:rPr lang="en-US" b="1" u="sng" dirty="0"/>
              <a:t>RRDs se </a:t>
            </a:r>
            <a:r>
              <a:rPr lang="en-US" b="1" u="sng" dirty="0" err="1"/>
              <a:t>encuentran</a:t>
            </a:r>
            <a:r>
              <a:rPr lang="en-US" b="1" u="sng" dirty="0"/>
              <a:t> </a:t>
            </a:r>
            <a:r>
              <a:rPr lang="en-US" b="1" u="sng" dirty="0" err="1"/>
              <a:t>distribuidos</a:t>
            </a:r>
            <a:r>
              <a:rPr lang="en-US" b="1" u="sng" dirty="0"/>
              <a:t> </a:t>
            </a:r>
            <a:r>
              <a:rPr lang="en-US" b="1" u="sng" dirty="0" err="1"/>
              <a:t>sobre</a:t>
            </a:r>
            <a:r>
              <a:rPr lang="en-US" b="1" u="sng" dirty="0"/>
              <a:t> </a:t>
            </a:r>
            <a:r>
              <a:rPr lang="en-US" b="1" u="sng" dirty="0" err="1"/>
              <a:t>esas</a:t>
            </a:r>
            <a:r>
              <a:rPr lang="en-US" b="1" u="sng" dirty="0"/>
              <a:t> </a:t>
            </a:r>
            <a:r>
              <a:rPr lang="en-US" b="1" u="sng" dirty="0" err="1"/>
              <a:t>máquinas</a:t>
            </a:r>
            <a:r>
              <a:rPr lang="en-US" dirty="0"/>
              <a:t>. Con </a:t>
            </a:r>
            <a:r>
              <a:rPr lang="en-US" dirty="0" err="1"/>
              <a:t>ello</a:t>
            </a:r>
            <a:r>
              <a:rPr lang="en-US" dirty="0"/>
              <a:t> se </a:t>
            </a:r>
            <a:r>
              <a:rPr lang="en-US" dirty="0" err="1"/>
              <a:t>consigue</a:t>
            </a:r>
            <a:r>
              <a:rPr lang="en-US" dirty="0"/>
              <a:t> la </a:t>
            </a:r>
            <a:r>
              <a:rPr lang="en-US" dirty="0" err="1"/>
              <a:t>tolerancia</a:t>
            </a:r>
            <a:r>
              <a:rPr lang="en-US" dirty="0"/>
              <a:t> a </a:t>
            </a:r>
            <a:r>
              <a:rPr lang="en-US" dirty="0" err="1"/>
              <a:t>fallos</a:t>
            </a:r>
            <a:r>
              <a:rPr lang="en-US" dirty="0"/>
              <a:t>, </a:t>
            </a:r>
            <a:r>
              <a:rPr lang="en-US" dirty="0" err="1"/>
              <a:t>porque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falla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máquina</a:t>
            </a:r>
            <a:r>
              <a:rPr lang="en-US" dirty="0"/>
              <a:t> </a:t>
            </a:r>
            <a:r>
              <a:rPr lang="en-US" dirty="0" err="1"/>
              <a:t>tenemos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fichero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otras</a:t>
            </a:r>
            <a:r>
              <a:rPr lang="en-US" dirty="0"/>
              <a:t> </a:t>
            </a:r>
            <a:r>
              <a:rPr lang="en-US" dirty="0" err="1"/>
              <a:t>máquinas</a:t>
            </a:r>
            <a:r>
              <a:rPr lang="en-US" dirty="0"/>
              <a:t>.</a:t>
            </a:r>
          </a:p>
          <a:p>
            <a:pPr marL="518145" lvl="1" indent="0">
              <a:buNone/>
            </a:pPr>
            <a:endParaRPr lang="en-US" dirty="0"/>
          </a:p>
          <a:p>
            <a:pPr lvl="1"/>
            <a:r>
              <a:rPr lang="en-US" dirty="0"/>
              <a:t>Usan la </a:t>
            </a:r>
            <a:r>
              <a:rPr lang="en-US" dirty="0" err="1"/>
              <a:t>evaluación</a:t>
            </a:r>
            <a:r>
              <a:rPr lang="en-US" dirty="0"/>
              <a:t> </a:t>
            </a:r>
            <a:r>
              <a:rPr lang="en-US" dirty="0" err="1"/>
              <a:t>perezosa</a:t>
            </a:r>
            <a:r>
              <a:rPr lang="en-US" dirty="0"/>
              <a:t>, que </a:t>
            </a:r>
            <a:r>
              <a:rPr lang="en-US" dirty="0" err="1"/>
              <a:t>consiste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que </a:t>
            </a:r>
            <a:r>
              <a:rPr lang="en-US" b="1" dirty="0" err="1"/>
              <a:t>t</a:t>
            </a:r>
            <a:r>
              <a:rPr lang="en-US" b="1" u="sng" dirty="0" err="1"/>
              <a:t>odas</a:t>
            </a:r>
            <a:r>
              <a:rPr lang="en-US" b="1" u="sng" dirty="0"/>
              <a:t> las </a:t>
            </a:r>
            <a:r>
              <a:rPr lang="en-US" b="1" u="sng" dirty="0" err="1"/>
              <a:t>transformaciones</a:t>
            </a:r>
            <a:r>
              <a:rPr lang="en-US" b="1" u="sng" dirty="0"/>
              <a:t> que </a:t>
            </a:r>
            <a:r>
              <a:rPr lang="en-US" b="1" u="sng" dirty="0" err="1"/>
              <a:t>vayamos</a:t>
            </a:r>
            <a:r>
              <a:rPr lang="en-US" b="1" u="sng" dirty="0"/>
              <a:t> </a:t>
            </a:r>
            <a:r>
              <a:rPr lang="en-US" b="1" u="sng" dirty="0" err="1"/>
              <a:t>haciendo</a:t>
            </a:r>
            <a:r>
              <a:rPr lang="en-US" b="1" u="sng" dirty="0"/>
              <a:t> a </a:t>
            </a:r>
            <a:r>
              <a:rPr lang="en-US" b="1" u="sng" dirty="0" err="1"/>
              <a:t>los</a:t>
            </a:r>
            <a:r>
              <a:rPr lang="en-US" b="1" u="sng" dirty="0"/>
              <a:t> RDDs se van a </a:t>
            </a:r>
            <a:r>
              <a:rPr lang="en-US" b="1" u="sng" dirty="0" err="1"/>
              <a:t>ir</a:t>
            </a:r>
            <a:r>
              <a:rPr lang="en-US" b="1" u="sng" dirty="0"/>
              <a:t> </a:t>
            </a:r>
            <a:r>
              <a:rPr lang="en-US" b="1" u="sng" dirty="0" err="1"/>
              <a:t>almacenando</a:t>
            </a:r>
            <a:r>
              <a:rPr lang="en-US" b="1" u="sng" dirty="0"/>
              <a:t> </a:t>
            </a:r>
            <a:r>
              <a:rPr lang="en-US" b="1" u="sng" dirty="0" err="1"/>
              <a:t>en</a:t>
            </a:r>
            <a:r>
              <a:rPr lang="en-US" b="1" u="sng" dirty="0"/>
              <a:t> un DAG y no se van a resolver hasta que no </a:t>
            </a:r>
            <a:r>
              <a:rPr lang="en-US" b="1" u="sng" dirty="0" err="1"/>
              <a:t>quede</a:t>
            </a:r>
            <a:r>
              <a:rPr lang="en-US" b="1" u="sng" dirty="0"/>
              <a:t> </a:t>
            </a:r>
            <a:r>
              <a:rPr lang="en-US" b="1" u="sng" dirty="0" err="1"/>
              <a:t>más</a:t>
            </a:r>
            <a:r>
              <a:rPr lang="en-US" b="1" u="sng" dirty="0"/>
              <a:t> </a:t>
            </a:r>
            <a:r>
              <a:rPr lang="en-US" b="1" u="sng" dirty="0" err="1"/>
              <a:t>remedio</a:t>
            </a:r>
            <a:r>
              <a:rPr lang="en-US" dirty="0"/>
              <a:t>, hasta que la </a:t>
            </a:r>
            <a:r>
              <a:rPr lang="en-US" dirty="0" err="1"/>
              <a:t>herramienta</a:t>
            </a:r>
            <a:r>
              <a:rPr lang="en-US" dirty="0"/>
              <a:t> </a:t>
            </a:r>
            <a:r>
              <a:rPr lang="en-US" dirty="0" err="1"/>
              <a:t>esté</a:t>
            </a:r>
            <a:r>
              <a:rPr lang="en-US" dirty="0"/>
              <a:t> </a:t>
            </a:r>
            <a:r>
              <a:rPr lang="en-US" dirty="0" err="1"/>
              <a:t>obligada</a:t>
            </a:r>
            <a:r>
              <a:rPr lang="en-US" dirty="0"/>
              <a:t> a </a:t>
            </a:r>
            <a:r>
              <a:rPr lang="en-US" dirty="0" err="1"/>
              <a:t>realizarlas</a:t>
            </a:r>
            <a:r>
              <a:rPr lang="en-US" dirty="0"/>
              <a:t>. Esta </a:t>
            </a:r>
            <a:r>
              <a:rPr lang="en-US" dirty="0" err="1"/>
              <a:t>evaluación</a:t>
            </a:r>
            <a:r>
              <a:rPr lang="en-US" dirty="0"/>
              <a:t> </a:t>
            </a:r>
            <a:r>
              <a:rPr lang="en-US" dirty="0" err="1"/>
              <a:t>perezosa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ventaja</a:t>
            </a:r>
            <a:r>
              <a:rPr lang="en-US" dirty="0"/>
              <a:t> y un </a:t>
            </a:r>
            <a:r>
              <a:rPr lang="en-US" dirty="0" err="1"/>
              <a:t>inconveniente</a:t>
            </a:r>
            <a:r>
              <a:rPr lang="en-US" dirty="0"/>
              <a:t>, la </a:t>
            </a:r>
            <a:r>
              <a:rPr lang="en-US" dirty="0" err="1"/>
              <a:t>primera</a:t>
            </a:r>
            <a:r>
              <a:rPr lang="en-US" dirty="0"/>
              <a:t> es que </a:t>
            </a:r>
            <a:r>
              <a:rPr lang="en-US" dirty="0" err="1"/>
              <a:t>ganamos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, y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inconveniente</a:t>
            </a:r>
            <a:r>
              <a:rPr lang="en-US" dirty="0"/>
              <a:t> es que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falla</a:t>
            </a:r>
            <a:r>
              <a:rPr lang="en-US" dirty="0"/>
              <a:t>, no lo </a:t>
            </a:r>
            <a:r>
              <a:rPr lang="en-US" dirty="0" err="1"/>
              <a:t>vamos</a:t>
            </a:r>
            <a:r>
              <a:rPr lang="en-US" dirty="0"/>
              <a:t> a </a:t>
            </a:r>
            <a:r>
              <a:rPr lang="en-US" dirty="0" err="1"/>
              <a:t>ver</a:t>
            </a:r>
            <a:r>
              <a:rPr lang="en-US" dirty="0"/>
              <a:t> hasta que se </a:t>
            </a:r>
            <a:r>
              <a:rPr lang="en-US" dirty="0" err="1"/>
              <a:t>resuelva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grafo</a:t>
            </a:r>
            <a:r>
              <a:rPr lang="en-US" dirty="0"/>
              <a:t> </a:t>
            </a:r>
            <a:r>
              <a:rPr lang="en-US" dirty="0" err="1"/>
              <a:t>completo</a:t>
            </a:r>
            <a:r>
              <a:rPr lang="en-US" dirty="0"/>
              <a:t>.</a:t>
            </a:r>
          </a:p>
          <a:p>
            <a:pPr marL="518145" lvl="1" indent="0">
              <a:buNone/>
            </a:pPr>
            <a:endParaRPr lang="en-US" dirty="0"/>
          </a:p>
          <a:p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RDD se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realizar</a:t>
            </a:r>
            <a:r>
              <a:rPr lang="en-US" dirty="0"/>
              <a:t> dos </a:t>
            </a:r>
            <a:r>
              <a:rPr lang="en-US" dirty="0" err="1"/>
              <a:t>tipos</a:t>
            </a:r>
            <a:r>
              <a:rPr lang="en-US" dirty="0"/>
              <a:t> de </a:t>
            </a:r>
            <a:r>
              <a:rPr lang="en-US" dirty="0" err="1"/>
              <a:t>operaciones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Acción</a:t>
            </a:r>
            <a:r>
              <a:rPr lang="en-US" dirty="0"/>
              <a:t>: </a:t>
            </a:r>
            <a:r>
              <a:rPr lang="en-US" dirty="0" err="1"/>
              <a:t>devuelven</a:t>
            </a:r>
            <a:r>
              <a:rPr lang="en-US" dirty="0"/>
              <a:t> un valor </a:t>
            </a:r>
            <a:r>
              <a:rPr lang="en-US" dirty="0" err="1"/>
              <a:t>tras</a:t>
            </a:r>
            <a:r>
              <a:rPr lang="en-US" dirty="0"/>
              <a:t> </a:t>
            </a:r>
            <a:r>
              <a:rPr lang="en-US" dirty="0" err="1"/>
              <a:t>ejecutar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computación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conjunto de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pPr marL="518145" lvl="1" indent="0">
              <a:buNone/>
            </a:pPr>
            <a:endParaRPr lang="en-US" dirty="0"/>
          </a:p>
          <a:p>
            <a:pPr lvl="1"/>
            <a:r>
              <a:rPr lang="en-US" dirty="0" err="1"/>
              <a:t>Transformación</a:t>
            </a:r>
            <a:r>
              <a:rPr lang="en-US" dirty="0"/>
              <a:t>: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operación</a:t>
            </a:r>
            <a:r>
              <a:rPr lang="en-US" dirty="0"/>
              <a:t> </a:t>
            </a:r>
            <a:r>
              <a:rPr lang="en-US" dirty="0" err="1"/>
              <a:t>perezosa</a:t>
            </a:r>
            <a:r>
              <a:rPr lang="en-US" dirty="0"/>
              <a:t> que </a:t>
            </a:r>
            <a:r>
              <a:rPr lang="en-US" dirty="0" err="1"/>
              <a:t>crea</a:t>
            </a:r>
            <a:r>
              <a:rPr lang="en-US" dirty="0"/>
              <a:t> un nuevo conjunto de </a:t>
            </a:r>
            <a:r>
              <a:rPr lang="en-US" dirty="0" err="1"/>
              <a:t>datos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de </a:t>
            </a:r>
            <a:r>
              <a:rPr lang="en-US" dirty="0" err="1"/>
              <a:t>otro</a:t>
            </a:r>
            <a:r>
              <a:rPr lang="en-US" dirty="0"/>
              <a:t> RDD/Dataset, </a:t>
            </a:r>
            <a:r>
              <a:rPr lang="en-US" dirty="0" err="1"/>
              <a:t>tras</a:t>
            </a:r>
            <a:r>
              <a:rPr lang="en-US" dirty="0"/>
              <a:t> </a:t>
            </a:r>
            <a:r>
              <a:rPr lang="en-US" dirty="0" err="1"/>
              <a:t>realizar</a:t>
            </a:r>
            <a:r>
              <a:rPr lang="en-US" dirty="0"/>
              <a:t> un </a:t>
            </a:r>
            <a:r>
              <a:rPr lang="en-US" dirty="0" err="1"/>
              <a:t>filtrado</a:t>
            </a:r>
            <a:r>
              <a:rPr lang="en-US" dirty="0"/>
              <a:t>, join, etc...</a:t>
            </a:r>
          </a:p>
          <a:p>
            <a:endParaRPr lang="en-CO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D640EF9-D6CE-100C-C7C5-9D45D9ED15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O" dirty="0"/>
              <a:t>RDD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14618-D2FB-0268-56FB-9DEC0EC01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E7C7-8AE5-4AED-AD03-ACF7236A778A}" type="slidenum">
              <a:rPr lang="es-CO" smtClean="0"/>
              <a:pPr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3645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D9FC80-11FB-F9FE-609A-11EF84E777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 </a:t>
            </a:r>
            <a:r>
              <a:rPr lang="en-US" dirty="0" err="1"/>
              <a:t>DataFrame</a:t>
            </a:r>
            <a:r>
              <a:rPr lang="en-US" dirty="0"/>
              <a:t>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estructura</a:t>
            </a:r>
            <a:r>
              <a:rPr lang="en-US" dirty="0"/>
              <a:t> </a:t>
            </a:r>
            <a:r>
              <a:rPr lang="en-US" dirty="0" err="1"/>
              <a:t>equivalente</a:t>
            </a:r>
            <a:r>
              <a:rPr lang="en-US" dirty="0"/>
              <a:t> 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tabla</a:t>
            </a:r>
            <a:r>
              <a:rPr lang="en-US" dirty="0"/>
              <a:t> de base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relacional</a:t>
            </a:r>
            <a:r>
              <a:rPr lang="en-US" dirty="0"/>
              <a:t>, con un motor bien </a:t>
            </a:r>
            <a:r>
              <a:rPr lang="en-US" dirty="0" err="1"/>
              <a:t>optimizado</a:t>
            </a:r>
            <a:r>
              <a:rPr lang="en-US" dirty="0"/>
              <a:t> para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trabajo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clúster</a:t>
            </a:r>
            <a:r>
              <a:rPr lang="en-US" dirty="0"/>
              <a:t>. Los </a:t>
            </a:r>
            <a:r>
              <a:rPr lang="en-US" dirty="0" err="1"/>
              <a:t>datos</a:t>
            </a:r>
            <a:r>
              <a:rPr lang="en-US" dirty="0"/>
              <a:t> se </a:t>
            </a:r>
            <a:r>
              <a:rPr lang="en-US" dirty="0" err="1"/>
              <a:t>almacenan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filas</a:t>
            </a:r>
            <a:r>
              <a:rPr lang="en-US" dirty="0"/>
              <a:t> y </a:t>
            </a:r>
            <a:r>
              <a:rPr lang="en-US" dirty="0" err="1"/>
              <a:t>columnas</a:t>
            </a:r>
            <a:r>
              <a:rPr lang="en-US" dirty="0"/>
              <a:t> y </a:t>
            </a:r>
            <a:r>
              <a:rPr lang="en-US" dirty="0" err="1"/>
              <a:t>ofrece</a:t>
            </a:r>
            <a:r>
              <a:rPr lang="en-US" dirty="0"/>
              <a:t> un conjunto de </a:t>
            </a:r>
            <a:r>
              <a:rPr lang="en-US" dirty="0" err="1"/>
              <a:t>operaciones</a:t>
            </a:r>
            <a:r>
              <a:rPr lang="en-US" dirty="0"/>
              <a:t> para manipular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El </a:t>
            </a:r>
            <a:r>
              <a:rPr lang="en-US" dirty="0" err="1"/>
              <a:t>trabajo</a:t>
            </a:r>
            <a:r>
              <a:rPr lang="en-US" dirty="0"/>
              <a:t> con </a:t>
            </a:r>
            <a:r>
              <a:rPr lang="en-US" dirty="0" err="1"/>
              <a:t>DataFrames</a:t>
            </a:r>
            <a:r>
              <a:rPr lang="en-US" dirty="0"/>
              <a:t> es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sencillo</a:t>
            </a:r>
            <a:r>
              <a:rPr lang="en-US" dirty="0"/>
              <a:t> y </a:t>
            </a:r>
            <a:r>
              <a:rPr lang="en-US" dirty="0" err="1"/>
              <a:t>eficiente</a:t>
            </a:r>
            <a:r>
              <a:rPr lang="en-US" dirty="0"/>
              <a:t> que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procesamiento</a:t>
            </a:r>
            <a:r>
              <a:rPr lang="en-US" dirty="0"/>
              <a:t> con RDD,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eso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uso</a:t>
            </a:r>
            <a:r>
              <a:rPr lang="en-US" dirty="0"/>
              <a:t> es </a:t>
            </a:r>
            <a:r>
              <a:rPr lang="en-US" dirty="0" err="1"/>
              <a:t>predominante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nuevos</a:t>
            </a:r>
            <a:r>
              <a:rPr lang="en-US" dirty="0"/>
              <a:t> </a:t>
            </a:r>
            <a:r>
              <a:rPr lang="en-US" dirty="0" err="1"/>
              <a:t>desarrollos</a:t>
            </a:r>
            <a:r>
              <a:rPr lang="en-US" dirty="0"/>
              <a:t> con Spark.</a:t>
            </a:r>
          </a:p>
          <a:p>
            <a:endParaRPr lang="en-CO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77D65A2-27FC-87F6-ECEE-5B8B65F982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O" dirty="0"/>
              <a:t>Dataframe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2C396-CE59-FB7E-0CF8-5BE07557C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E7C7-8AE5-4AED-AD03-ACF7236A778A}" type="slidenum">
              <a:rPr lang="es-CO" smtClean="0"/>
              <a:pPr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3784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00FA35E-9F70-B4D0-57BD-311C92B32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Spark SQL </a:t>
            </a:r>
            <a:r>
              <a:rPr lang="en-US" dirty="0" err="1"/>
              <a:t>permite</a:t>
            </a:r>
            <a:r>
              <a:rPr lang="en-US" dirty="0"/>
              <a:t> </a:t>
            </a:r>
            <a:r>
              <a:rPr lang="en-US" dirty="0" err="1"/>
              <a:t>emitir</a:t>
            </a:r>
            <a:r>
              <a:rPr lang="en-US" dirty="0"/>
              <a:t> </a:t>
            </a:r>
            <a:r>
              <a:rPr lang="en-US" dirty="0" err="1"/>
              <a:t>consultas</a:t>
            </a:r>
            <a:r>
              <a:rPr lang="en-US" dirty="0"/>
              <a:t> compatibles con ANSI SQL:2003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estructurados</a:t>
            </a:r>
            <a:r>
              <a:rPr lang="en-US" dirty="0"/>
              <a:t> con un schema.</a:t>
            </a:r>
          </a:p>
          <a:p>
            <a:endParaRPr lang="en-US" dirty="0"/>
          </a:p>
          <a:p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introducción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Spark 1.3, Spark SQL ha </a:t>
            </a:r>
            <a:r>
              <a:rPr lang="en-US" dirty="0" err="1"/>
              <a:t>evolucionado</a:t>
            </a:r>
            <a:r>
              <a:rPr lang="en-US" dirty="0"/>
              <a:t> hasta </a:t>
            </a:r>
            <a:r>
              <a:rPr lang="en-US" dirty="0" err="1"/>
              <a:t>convertirse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motor </a:t>
            </a:r>
            <a:r>
              <a:rPr lang="en-US" dirty="0" err="1"/>
              <a:t>sustancial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que se </a:t>
            </a:r>
            <a:r>
              <a:rPr lang="en-US" dirty="0" err="1"/>
              <a:t>han</a:t>
            </a:r>
            <a:r>
              <a:rPr lang="en-US" dirty="0"/>
              <a:t> </a:t>
            </a:r>
            <a:r>
              <a:rPr lang="en-US" dirty="0" err="1"/>
              <a:t>construido</a:t>
            </a:r>
            <a:r>
              <a:rPr lang="en-US" dirty="0"/>
              <a:t> </a:t>
            </a:r>
            <a:r>
              <a:rPr lang="en-US" dirty="0" err="1"/>
              <a:t>muchas</a:t>
            </a:r>
            <a:r>
              <a:rPr lang="en-US" dirty="0"/>
              <a:t> </a:t>
            </a:r>
            <a:r>
              <a:rPr lang="en-US" dirty="0" err="1"/>
              <a:t>funcionalidades</a:t>
            </a:r>
            <a:r>
              <a:rPr lang="en-US" dirty="0"/>
              <a:t> </a:t>
            </a:r>
            <a:r>
              <a:rPr lang="en-US" dirty="0" err="1"/>
              <a:t>estructuradas</a:t>
            </a:r>
            <a:r>
              <a:rPr lang="en-US" dirty="0"/>
              <a:t> de alto </a:t>
            </a:r>
            <a:r>
              <a:rPr lang="en-US" dirty="0" err="1"/>
              <a:t>nivel</a:t>
            </a:r>
            <a:r>
              <a:rPr lang="en-US" dirty="0"/>
              <a:t>. </a:t>
            </a:r>
            <a:r>
              <a:rPr lang="en-US" dirty="0" err="1"/>
              <a:t>Además</a:t>
            </a:r>
            <a:r>
              <a:rPr lang="en-US" dirty="0"/>
              <a:t> de </a:t>
            </a:r>
            <a:r>
              <a:rPr lang="en-US" dirty="0" err="1"/>
              <a:t>permitirle</a:t>
            </a:r>
            <a:r>
              <a:rPr lang="en-US" dirty="0"/>
              <a:t> </a:t>
            </a:r>
            <a:r>
              <a:rPr lang="en-US" dirty="0" err="1"/>
              <a:t>realizar</a:t>
            </a:r>
            <a:r>
              <a:rPr lang="en-US" dirty="0"/>
              <a:t> </a:t>
            </a:r>
            <a:r>
              <a:rPr lang="en-US" dirty="0" err="1"/>
              <a:t>consultas</a:t>
            </a:r>
            <a:r>
              <a:rPr lang="en-US" dirty="0"/>
              <a:t> de </a:t>
            </a:r>
            <a:r>
              <a:rPr lang="en-US" dirty="0" err="1"/>
              <a:t>tipo</a:t>
            </a:r>
            <a:r>
              <a:rPr lang="en-US" dirty="0"/>
              <a:t> SQL </a:t>
            </a:r>
            <a:r>
              <a:rPr lang="en-US" dirty="0" err="1"/>
              <a:t>en</a:t>
            </a:r>
            <a:r>
              <a:rPr lang="en-US" dirty="0"/>
              <a:t> sus </a:t>
            </a:r>
            <a:r>
              <a:rPr lang="en-US" dirty="0" err="1"/>
              <a:t>datos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motor Spark SQL:</a:t>
            </a:r>
          </a:p>
          <a:p>
            <a:pPr lvl="1"/>
            <a:r>
              <a:rPr lang="en-US" dirty="0" err="1"/>
              <a:t>Unifica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componentes</a:t>
            </a:r>
            <a:r>
              <a:rPr lang="en-US" dirty="0"/>
              <a:t> de Spark y </a:t>
            </a:r>
            <a:r>
              <a:rPr lang="en-US" dirty="0" err="1"/>
              <a:t>permite</a:t>
            </a:r>
            <a:r>
              <a:rPr lang="en-US" dirty="0"/>
              <a:t> la </a:t>
            </a:r>
            <a:r>
              <a:rPr lang="en-US" dirty="0" err="1"/>
              <a:t>abstracción</a:t>
            </a:r>
            <a:r>
              <a:rPr lang="en-US" dirty="0"/>
              <a:t> de </a:t>
            </a:r>
            <a:r>
              <a:rPr lang="en-US" dirty="0" err="1"/>
              <a:t>DataFrames</a:t>
            </a:r>
            <a:r>
              <a:rPr lang="en-US" dirty="0"/>
              <a:t>/Datasets </a:t>
            </a:r>
            <a:r>
              <a:rPr lang="en-US" dirty="0" err="1"/>
              <a:t>en</a:t>
            </a:r>
            <a:r>
              <a:rPr lang="en-US" dirty="0"/>
              <a:t> Java, Scala, Python, R y .NET, lo que </a:t>
            </a:r>
            <a:r>
              <a:rPr lang="en-US" dirty="0" err="1"/>
              <a:t>simplifica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trabajo</a:t>
            </a:r>
            <a:r>
              <a:rPr lang="en-US" dirty="0"/>
              <a:t> con conjuntos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estructurados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Se </a:t>
            </a:r>
            <a:r>
              <a:rPr lang="en-US" dirty="0" err="1"/>
              <a:t>conecta</a:t>
            </a:r>
            <a:r>
              <a:rPr lang="en-US" dirty="0"/>
              <a:t> 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metastore</a:t>
            </a:r>
            <a:r>
              <a:rPr lang="en-US" dirty="0"/>
              <a:t> de Apache Hive a las </a:t>
            </a:r>
            <a:r>
              <a:rPr lang="en-US" dirty="0" err="1"/>
              <a:t>tablas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Lee y escribe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estructurados</a:t>
            </a:r>
            <a:r>
              <a:rPr lang="en-US" dirty="0"/>
              <a:t> con un </a:t>
            </a:r>
            <a:r>
              <a:rPr lang="en-US" dirty="0" err="1"/>
              <a:t>esquema</a:t>
            </a:r>
            <a:r>
              <a:rPr lang="en-US" dirty="0"/>
              <a:t> </a:t>
            </a:r>
            <a:r>
              <a:rPr lang="en-US" dirty="0" err="1"/>
              <a:t>específico</a:t>
            </a:r>
            <a:r>
              <a:rPr lang="en-US" dirty="0"/>
              <a:t> de </a:t>
            </a:r>
            <a:r>
              <a:rPr lang="en-US" dirty="0" err="1"/>
              <a:t>formatos</a:t>
            </a:r>
            <a:r>
              <a:rPr lang="en-US" dirty="0"/>
              <a:t> de </a:t>
            </a:r>
            <a:r>
              <a:rPr lang="en-US" dirty="0" err="1"/>
              <a:t>archivos</a:t>
            </a:r>
            <a:r>
              <a:rPr lang="en-US" dirty="0"/>
              <a:t> </a:t>
            </a:r>
            <a:r>
              <a:rPr lang="en-US" dirty="0" err="1"/>
              <a:t>estructurados</a:t>
            </a:r>
            <a:r>
              <a:rPr lang="en-US" dirty="0"/>
              <a:t> (JSON, CSV, Text, Avro, Parquet, ORC, etc.) y </a:t>
            </a:r>
            <a:r>
              <a:rPr lang="en-US" dirty="0" err="1"/>
              <a:t>convierte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tablas</a:t>
            </a:r>
            <a:r>
              <a:rPr lang="en-US" dirty="0"/>
              <a:t> </a:t>
            </a:r>
            <a:r>
              <a:rPr lang="en-US" dirty="0" err="1"/>
              <a:t>temporales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Proporciona</a:t>
            </a:r>
            <a:r>
              <a:rPr lang="en-US" dirty="0"/>
              <a:t> un </a:t>
            </a:r>
            <a:r>
              <a:rPr lang="en-US" dirty="0" err="1"/>
              <a:t>puente</a:t>
            </a:r>
            <a:r>
              <a:rPr lang="en-US" dirty="0"/>
              <a:t> </a:t>
            </a:r>
            <a:r>
              <a:rPr lang="en-US" dirty="0" err="1"/>
              <a:t>hacia</a:t>
            </a:r>
            <a:r>
              <a:rPr lang="en-US" dirty="0"/>
              <a:t> (y </a:t>
            </a:r>
            <a:r>
              <a:rPr lang="en-US" dirty="0" err="1"/>
              <a:t>desde</a:t>
            </a:r>
            <a:r>
              <a:rPr lang="en-US" dirty="0"/>
              <a:t>) </a:t>
            </a:r>
            <a:r>
              <a:rPr lang="en-US" dirty="0" err="1"/>
              <a:t>herramientas</a:t>
            </a:r>
            <a:r>
              <a:rPr lang="en-US" dirty="0"/>
              <a:t> </a:t>
            </a:r>
            <a:r>
              <a:rPr lang="en-US" dirty="0" err="1"/>
              <a:t>externas</a:t>
            </a:r>
            <a:r>
              <a:rPr lang="en-US" dirty="0"/>
              <a:t> a </a:t>
            </a:r>
            <a:r>
              <a:rPr lang="en-US" dirty="0" err="1"/>
              <a:t>través</a:t>
            </a:r>
            <a:r>
              <a:rPr lang="en-US" dirty="0"/>
              <a:t> de </a:t>
            </a:r>
            <a:r>
              <a:rPr lang="en-US" dirty="0" err="1"/>
              <a:t>conectores</a:t>
            </a:r>
            <a:r>
              <a:rPr lang="en-US" dirty="0"/>
              <a:t> JDBC/ODBC de base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estándar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Genera planes de consulta </a:t>
            </a:r>
            <a:r>
              <a:rPr lang="en-US" dirty="0" err="1"/>
              <a:t>optimizados</a:t>
            </a:r>
            <a:r>
              <a:rPr lang="en-US" dirty="0"/>
              <a:t> y </a:t>
            </a:r>
            <a:r>
              <a:rPr lang="en-US" dirty="0" err="1"/>
              <a:t>código</a:t>
            </a:r>
            <a:r>
              <a:rPr lang="en-US" dirty="0"/>
              <a:t> </a:t>
            </a:r>
            <a:r>
              <a:rPr lang="en-US" dirty="0" err="1"/>
              <a:t>compacto</a:t>
            </a:r>
            <a:r>
              <a:rPr lang="en-US" dirty="0"/>
              <a:t> para la JVM, para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ejecución</a:t>
            </a:r>
            <a:r>
              <a:rPr lang="en-US" dirty="0"/>
              <a:t> final.</a:t>
            </a:r>
          </a:p>
          <a:p>
            <a:endParaRPr lang="en-CO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5283E0-0FA0-A182-FB07-3C6C9CC5A5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O" dirty="0"/>
              <a:t>Spark SQL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92E20-008D-F8D2-44F5-05794E12B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E7C7-8AE5-4AED-AD03-ACF7236A778A}" type="slidenum">
              <a:rPr lang="es-CO" smtClean="0"/>
              <a:pPr/>
              <a:t>11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8248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A8316C6-C096-5DA5-999A-0E76CA86BA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O" dirty="0"/>
              <a:t>Spark SQL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1FBC3-93CE-1E7D-1AE7-D582400B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3E7C7-8AE5-4AED-AD03-ACF7236A778A}" type="slidenum">
              <a:rPr lang="es-CO" smtClean="0"/>
              <a:pPr/>
              <a:t>12</a:t>
            </a:fld>
            <a:endParaRPr lang="es-CO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6836A2-071D-2940-5F74-F1A88390D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1200" y="1176281"/>
            <a:ext cx="6667500" cy="600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356658"/>
      </p:ext>
    </p:extLst>
  </p:cSld>
  <p:clrMapOvr>
    <a:masterClrMapping/>
  </p:clrMapOvr>
</p:sld>
</file>

<file path=ppt/theme/theme1.xml><?xml version="1.0" encoding="utf-8"?>
<a:theme xmlns:a="http://schemas.openxmlformats.org/drawingml/2006/main" name="UPB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B 2022" id="{AEA657FC-FFB5-4A32-8BA6-F7928325F065}" vid="{98903FF0-76B6-4E27-B318-94DB87E496C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0B1D43E3C1F524BAA0F19C402403090" ma:contentTypeVersion="8" ma:contentTypeDescription="Crear nuevo documento." ma:contentTypeScope="" ma:versionID="410ada4f57e58e1fbc3da7900f85bc1f">
  <xsd:schema xmlns:xsd="http://www.w3.org/2001/XMLSchema" xmlns:xs="http://www.w3.org/2001/XMLSchema" xmlns:p="http://schemas.microsoft.com/office/2006/metadata/properties" xmlns:ns2="b3f3823a-4102-46a2-8ce0-0196d5f885f5" targetNamespace="http://schemas.microsoft.com/office/2006/metadata/properties" ma:root="true" ma:fieldsID="6f2a39cf1ec650e0c3ead1e004ae3836" ns2:_="">
    <xsd:import namespace="b3f3823a-4102-46a2-8ce0-0196d5f885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f3823a-4102-46a2-8ce0-0196d5f885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8F148EE-4358-47C1-B8BE-9522EAF5C89B}">
  <ds:schemaRefs>
    <ds:schemaRef ds:uri="b3f3823a-4102-46a2-8ce0-0196d5f885f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12A15B8-0F49-4CE2-8471-9499697F0B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40AF5DC-3D9A-4C79-A939-8DF42ABC6576}">
  <ds:schemaRefs>
    <ds:schemaRef ds:uri="b3f3823a-4102-46a2-8ce0-0196d5f885f5"/>
    <ds:schemaRef ds:uri="http://www.w3.org/XML/1998/namespace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618bab0f-20a4-4de3-a10c-e20cee96bb35}" enabled="0" method="" siteId="{618bab0f-20a4-4de3-a10c-e20cee96bb3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Plantilla UPB 2022-2 (1)</Template>
  <TotalTime>494</TotalTime>
  <Words>1196</Words>
  <Application>Microsoft Macintosh PowerPoint</Application>
  <PresentationFormat>Custom</PresentationFormat>
  <Paragraphs>103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Nova Light</vt:lpstr>
      <vt:lpstr>Avenir Next</vt:lpstr>
      <vt:lpstr>Avenir Next Medium</vt:lpstr>
      <vt:lpstr>Calibri</vt:lpstr>
      <vt:lpstr>Vice City Sans</vt:lpstr>
      <vt:lpstr>UPB 2022</vt:lpstr>
      <vt:lpstr>Ingeniería de Ciencia de Datos Big Data</vt:lpstr>
      <vt:lpstr>¿Qué es spark?</vt:lpstr>
      <vt:lpstr>¿Qué es Spark?</vt:lpstr>
      <vt:lpstr>Arquitectura</vt:lpstr>
      <vt:lpstr>Manos a la obra: Prerrequisitos</vt:lpstr>
      <vt:lpstr>Manos a la obra: Spark UI</vt:lpstr>
      <vt:lpstr>Manos a la obra: Ejecutar scripts</vt:lpstr>
      <vt:lpstr>Spark Session</vt:lpstr>
      <vt:lpstr>RDD</vt:lpstr>
      <vt:lpstr>Dataframe</vt:lpstr>
      <vt:lpstr>Spark SQL</vt:lpstr>
      <vt:lpstr>Spark SQL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Camilo Soto</dc:creator>
  <cp:lastModifiedBy>Camilo Soto Montoya</cp:lastModifiedBy>
  <cp:revision>7</cp:revision>
  <dcterms:created xsi:type="dcterms:W3CDTF">2023-07-16T15:10:15Z</dcterms:created>
  <dcterms:modified xsi:type="dcterms:W3CDTF">2026-03-02T02:09:48Z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0x01010020B1D43E3C1F524BAA0F19C402403090</vt:lpwstr>
  </property>
</Properties>
</file>